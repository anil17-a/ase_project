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3"/>
    <p:sldId id="267" r:id="rId4"/>
    <p:sldId id="257" r:id="rId5"/>
    <p:sldId id="258" r:id="rId6"/>
    <p:sldId id="259" r:id="rId7"/>
    <p:sldId id="260" r:id="rId8"/>
    <p:sldId id="261" r:id="rId9"/>
    <p:sldId id="262" r:id="rId10"/>
    <p:sldId id="263" r:id="rId11"/>
    <p:sldId id="264"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874"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784080" y="548640"/>
            <a:ext cx="1188720" cy="1188720"/>
          </a:xfrm>
          <a:prstGeom prst="ellipse">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607040" y="1554480"/>
            <a:ext cx="731520" cy="731520"/>
          </a:xfrm>
          <a:prstGeom prst="ellipse">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326880" y="5303520"/>
            <a:ext cx="914400" cy="914400"/>
          </a:xfrm>
          <a:prstGeom prst="ellipse">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9636" y="2074929"/>
            <a:ext cx="1997663" cy="584775"/>
          </a:xfrm>
          <a:prstGeom prst="rect">
            <a:avLst/>
          </a:prstGeom>
          <a:noFill/>
        </p:spPr>
        <p:txBody>
          <a:bodyPr wrap="none">
            <a:spAutoFit/>
          </a:bodyPr>
          <a:lstStyle/>
          <a:p>
            <a:pPr>
              <a:defRPr sz="5200" b="1">
                <a:solidFill>
                  <a:srgbClr val="FFFFFF"/>
                </a:solidFill>
                <a:latin typeface="Aptos Display"/>
              </a:defRPr>
            </a:pPr>
            <a:r>
              <a:rPr sz="3200" dirty="0" err="1"/>
              <a:t>MediLink</a:t>
            </a:r>
            <a:r>
              <a:rPr lang="en-US" sz="3200" dirty="0"/>
              <a:t> -</a:t>
            </a:r>
            <a:endParaRPr sz="3200" dirty="0"/>
          </a:p>
        </p:txBody>
      </p:sp>
      <p:sp>
        <p:nvSpPr>
          <p:cNvPr id="7" name="TextBox 6"/>
          <p:cNvSpPr txBox="1"/>
          <p:nvPr/>
        </p:nvSpPr>
        <p:spPr>
          <a:xfrm>
            <a:off x="2600563" y="2125561"/>
            <a:ext cx="6990568" cy="523220"/>
          </a:xfrm>
          <a:prstGeom prst="rect">
            <a:avLst/>
          </a:prstGeom>
          <a:noFill/>
        </p:spPr>
        <p:txBody>
          <a:bodyPr wrap="none">
            <a:spAutoFit/>
          </a:bodyPr>
          <a:lstStyle/>
          <a:p>
            <a:pPr>
              <a:defRPr sz="2800">
                <a:solidFill>
                  <a:srgbClr val="D7E6F5"/>
                </a:solidFill>
                <a:latin typeface="Aptos Display"/>
              </a:defRPr>
            </a:pPr>
            <a:r>
              <a:rPr b="1" dirty="0"/>
              <a:t>Smart Blood &amp; Medicine Emergency Network</a:t>
            </a:r>
          </a:p>
        </p:txBody>
      </p:sp>
      <p:sp>
        <p:nvSpPr>
          <p:cNvPr id="8" name="TextBox 7"/>
          <p:cNvSpPr txBox="1"/>
          <p:nvPr/>
        </p:nvSpPr>
        <p:spPr>
          <a:xfrm>
            <a:off x="822960" y="3703320"/>
            <a:ext cx="5073184" cy="689932"/>
          </a:xfrm>
          <a:prstGeom prst="rect">
            <a:avLst/>
          </a:prstGeom>
          <a:noFill/>
        </p:spPr>
        <p:txBody>
          <a:bodyPr wrap="none">
            <a:spAutoFit/>
          </a:bodyPr>
          <a:lstStyle/>
          <a:p>
            <a:pPr>
              <a:spcAft>
                <a:spcPts val="700"/>
              </a:spcAft>
              <a:defRPr sz="1800">
                <a:solidFill>
                  <a:srgbClr val="FFFFFF"/>
                </a:solidFill>
                <a:latin typeface="Aptos"/>
              </a:defRPr>
            </a:pPr>
            <a:r>
              <a:rPr lang="en-IN" dirty="0"/>
              <a:t>ADAPTIVE SOFTWARE ENGINEERING (24C13201)</a:t>
            </a:r>
            <a:endParaRPr dirty="0"/>
          </a:p>
          <a:p>
            <a:pPr>
              <a:spcAft>
                <a:spcPts val="700"/>
              </a:spcAft>
              <a:defRPr sz="1500">
                <a:solidFill>
                  <a:srgbClr val="FFFFFF"/>
                </a:solidFill>
                <a:latin typeface="Aptos"/>
              </a:defRPr>
            </a:pPr>
            <a:r>
              <a:rPr dirty="0"/>
              <a:t>Guide: Bhavya K</a:t>
            </a:r>
          </a:p>
        </p:txBody>
      </p:sp>
      <p:sp>
        <p:nvSpPr>
          <p:cNvPr id="9" name="TextBox 8"/>
          <p:cNvSpPr txBox="1"/>
          <p:nvPr/>
        </p:nvSpPr>
        <p:spPr>
          <a:xfrm>
            <a:off x="822960" y="5212080"/>
            <a:ext cx="3570914" cy="830997"/>
          </a:xfrm>
          <a:prstGeom prst="rect">
            <a:avLst/>
          </a:prstGeom>
          <a:noFill/>
        </p:spPr>
        <p:txBody>
          <a:bodyPr wrap="none">
            <a:spAutoFit/>
          </a:bodyPr>
          <a:lstStyle/>
          <a:p>
            <a:pPr marL="285750" indent="-285750">
              <a:buFont typeface="Arial" panose="020B0604020202020204" pitchFamily="34" charset="0"/>
              <a:buChar char="•"/>
              <a:defRPr sz="1600">
                <a:solidFill>
                  <a:srgbClr val="BED2E6"/>
                </a:solidFill>
                <a:latin typeface="Aptos"/>
              </a:defRPr>
            </a:pPr>
            <a:r>
              <a:rPr dirty="0"/>
              <a:t>A. Anil </a:t>
            </a:r>
            <a:r>
              <a:rPr lang="en-US" dirty="0"/>
              <a:t>                             -   2420030130</a:t>
            </a:r>
          </a:p>
          <a:p>
            <a:pPr marL="285750" indent="-285750">
              <a:buFont typeface="Arial" panose="020B0604020202020204" pitchFamily="34" charset="0"/>
              <a:buChar char="•"/>
              <a:defRPr sz="1600">
                <a:solidFill>
                  <a:srgbClr val="BED2E6"/>
                </a:solidFill>
                <a:latin typeface="Aptos"/>
              </a:defRPr>
            </a:pPr>
            <a:r>
              <a:rPr dirty="0"/>
              <a:t>N. Girish Reddy </a:t>
            </a:r>
            <a:r>
              <a:rPr lang="en-US" dirty="0"/>
              <a:t>          -   2420030125</a:t>
            </a:r>
          </a:p>
          <a:p>
            <a:pPr marL="285750" indent="-285750">
              <a:buFont typeface="Arial" panose="020B0604020202020204" pitchFamily="34" charset="0"/>
              <a:buChar char="•"/>
              <a:defRPr sz="1600">
                <a:solidFill>
                  <a:srgbClr val="BED2E6"/>
                </a:solidFill>
                <a:latin typeface="Aptos"/>
              </a:defRPr>
            </a:pPr>
            <a:r>
              <a:rPr dirty="0"/>
              <a:t>S. Sri Charan Reddy</a:t>
            </a:r>
            <a:r>
              <a:rPr lang="en-US" dirty="0"/>
              <a:t>  -   2420030127</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674433" cy="584775"/>
          </a:xfrm>
          <a:prstGeom prst="rect">
            <a:avLst/>
          </a:prstGeom>
          <a:noFill/>
        </p:spPr>
        <p:txBody>
          <a:bodyPr wrap="none">
            <a:spAutoFit/>
          </a:bodyPr>
          <a:lstStyle/>
          <a:p>
            <a:pPr>
              <a:defRPr sz="2800" b="1">
                <a:solidFill>
                  <a:srgbClr val="152D4E"/>
                </a:solidFill>
                <a:latin typeface="Aptos Display"/>
              </a:defRPr>
            </a:pPr>
            <a:r>
              <a:rPr sz="3200" dirty="0"/>
              <a:t>Abstract</a:t>
            </a:r>
          </a:p>
        </p:txBody>
      </p:sp>
      <p:sp>
        <p:nvSpPr>
          <p:cNvPr id="9" name="TextBox 8"/>
          <p:cNvSpPr txBox="1"/>
          <p:nvPr/>
        </p:nvSpPr>
        <p:spPr>
          <a:xfrm>
            <a:off x="1239520" y="1470152"/>
            <a:ext cx="9067647" cy="3785652"/>
          </a:xfrm>
          <a:prstGeom prst="rect">
            <a:avLst/>
          </a:prstGeom>
          <a:noFill/>
        </p:spPr>
        <p:txBody>
          <a:bodyPr wrap="square">
            <a:spAutoFit/>
          </a:bodyPr>
          <a:lstStyle/>
          <a:p>
            <a:pPr>
              <a:spcAft>
                <a:spcPts val="800"/>
              </a:spcAft>
              <a:defRPr sz="1300" b="0">
                <a:solidFill>
                  <a:srgbClr val="232D37"/>
                </a:solidFill>
                <a:latin typeface="Aptos"/>
              </a:defRPr>
            </a:pPr>
            <a:r>
              <a:rPr sz="2000" dirty="0" err="1">
                <a:latin typeface="Cambria" panose="02040503050406030204" pitchFamily="18" charset="0"/>
                <a:ea typeface="Cambria" panose="02040503050406030204" pitchFamily="18" charset="0"/>
              </a:rPr>
              <a:t>MediLink</a:t>
            </a:r>
            <a:r>
              <a:rPr sz="2000" dirty="0">
                <a:latin typeface="Cambria" panose="02040503050406030204" pitchFamily="18" charset="0"/>
                <a:ea typeface="Cambria" panose="02040503050406030204" pitchFamily="18" charset="0"/>
              </a:rPr>
              <a:t> – Smart Blood &amp; Medicine Emergency Network is a web-based healthcare assistance platform designed to provide quick and reliable access to essential medical resources during emergency situations. It connects patients, blood donors, volunteers and pharmacies through a centralized digital platform. Users can register as donors or volunteers, search for blood donors by blood group and location, and create emergency blood requests with details such as required blood group, number of units, hospital, location, urgency level and contact information. The platform also includes a Medicine Finder to locate essential medicines and pharmacies, with location-based functionality that can be enhanced using Google Maps API. The system uses Java, JSP, HTML5, CSS3, JavaScript, MySQL, JDBC and Tomcat, with REST APIs for external services. Development follows Agile Scrum with Jira for sprint and task management.</a:t>
            </a:r>
          </a:p>
        </p:txBody>
      </p:sp>
      <p:sp>
        <p:nvSpPr>
          <p:cNvPr id="14" name="TextBox 13"/>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4964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Introduction</a:t>
            </a:r>
          </a:p>
        </p:txBody>
      </p:sp>
      <p:sp>
        <p:nvSpPr>
          <p:cNvPr id="6" name="TextBox 5"/>
          <p:cNvSpPr txBox="1"/>
          <p:nvPr/>
        </p:nvSpPr>
        <p:spPr>
          <a:xfrm>
            <a:off x="777240" y="1325880"/>
            <a:ext cx="10607040" cy="1631216"/>
          </a:xfrm>
          <a:prstGeom prst="rect">
            <a:avLst/>
          </a:prstGeom>
          <a:noFill/>
        </p:spPr>
        <p:txBody>
          <a:bodyPr wrap="square">
            <a:spAutoFit/>
          </a:bodyPr>
          <a:lstStyle/>
          <a:p>
            <a:pPr>
              <a:spcAft>
                <a:spcPts val="800"/>
              </a:spcAft>
              <a:defRPr sz="2000" b="0">
                <a:solidFill>
                  <a:srgbClr val="232D37"/>
                </a:solidFill>
                <a:latin typeface="Aptos"/>
              </a:defRPr>
            </a:pPr>
            <a:r>
              <a:rPr dirty="0">
                <a:latin typeface="Cambria" panose="02040503050406030204" pitchFamily="18" charset="0"/>
                <a:ea typeface="Cambria" panose="02040503050406030204" pitchFamily="18" charset="0"/>
              </a:rPr>
              <a:t>In critical situations, patients and their families may need blood or medicines immediately. Finding the right donor or an available medicine can be difficult when people must contact several hospitals, blood banks, pharmacies or social-media groups separately. These traditional approaches can consume valuable time and do not provide a single organized place to coordinate emergency support.</a:t>
            </a:r>
          </a:p>
        </p:txBody>
      </p:sp>
      <p:sp>
        <p:nvSpPr>
          <p:cNvPr id="8" name="Rectangle 7"/>
          <p:cNvSpPr/>
          <p:nvPr/>
        </p:nvSpPr>
        <p:spPr>
          <a:xfrm>
            <a:off x="777240" y="3154680"/>
            <a:ext cx="73152" cy="205740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291840"/>
            <a:ext cx="2971800" cy="411480"/>
          </a:xfrm>
          <a:prstGeom prst="rect">
            <a:avLst/>
          </a:prstGeom>
          <a:noFill/>
        </p:spPr>
        <p:txBody>
          <a:bodyPr wrap="square">
            <a:spAutoFit/>
          </a:bodyPr>
          <a:lstStyle/>
          <a:p>
            <a:pPr>
              <a:spcAft>
                <a:spcPts val="800"/>
              </a:spcAft>
              <a:defRPr sz="1800" b="1">
                <a:solidFill>
                  <a:srgbClr val="152D4E"/>
                </a:solidFill>
                <a:latin typeface="Aptos"/>
              </a:defRPr>
            </a:pPr>
            <a:r>
              <a:t>Centralized Platform</a:t>
            </a:r>
          </a:p>
        </p:txBody>
      </p:sp>
      <p:sp>
        <p:nvSpPr>
          <p:cNvPr id="10" name="TextBox 9"/>
          <p:cNvSpPr txBox="1"/>
          <p:nvPr/>
        </p:nvSpPr>
        <p:spPr>
          <a:xfrm>
            <a:off x="978408" y="3776472"/>
            <a:ext cx="2971800" cy="1280160"/>
          </a:xfrm>
          <a:prstGeom prst="rect">
            <a:avLst/>
          </a:prstGeom>
          <a:noFill/>
        </p:spPr>
        <p:txBody>
          <a:bodyPr wrap="square">
            <a:spAutoFit/>
          </a:bodyPr>
          <a:lstStyle/>
          <a:p>
            <a:pPr>
              <a:spcAft>
                <a:spcPts val="800"/>
              </a:spcAft>
              <a:defRPr sz="1300" b="0">
                <a:solidFill>
                  <a:srgbClr val="232D37"/>
                </a:solidFill>
                <a:latin typeface="Aptos"/>
              </a:defRPr>
            </a:pPr>
            <a:r>
              <a:t>Connects patients, blood donors, volunteers and pharmacies in one digital system.</a:t>
            </a:r>
          </a:p>
        </p:txBody>
      </p:sp>
      <p:sp>
        <p:nvSpPr>
          <p:cNvPr id="12" name="Rectangle 11"/>
          <p:cNvSpPr/>
          <p:nvPr/>
        </p:nvSpPr>
        <p:spPr>
          <a:xfrm>
            <a:off x="4434840" y="3154680"/>
            <a:ext cx="73152" cy="205740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3291840"/>
            <a:ext cx="2971800" cy="411480"/>
          </a:xfrm>
          <a:prstGeom prst="rect">
            <a:avLst/>
          </a:prstGeom>
          <a:noFill/>
        </p:spPr>
        <p:txBody>
          <a:bodyPr wrap="square">
            <a:spAutoFit/>
          </a:bodyPr>
          <a:lstStyle/>
          <a:p>
            <a:pPr>
              <a:spcAft>
                <a:spcPts val="800"/>
              </a:spcAft>
              <a:defRPr sz="1800" b="1">
                <a:solidFill>
                  <a:srgbClr val="152D4E"/>
                </a:solidFill>
                <a:latin typeface="Aptos"/>
              </a:defRPr>
            </a:pPr>
            <a:r>
              <a:t>Emergency Support</a:t>
            </a:r>
          </a:p>
        </p:txBody>
      </p:sp>
      <p:sp>
        <p:nvSpPr>
          <p:cNvPr id="14" name="TextBox 13"/>
          <p:cNvSpPr txBox="1"/>
          <p:nvPr/>
        </p:nvSpPr>
        <p:spPr>
          <a:xfrm>
            <a:off x="4636007" y="3776472"/>
            <a:ext cx="2971800" cy="1280160"/>
          </a:xfrm>
          <a:prstGeom prst="rect">
            <a:avLst/>
          </a:prstGeom>
          <a:noFill/>
        </p:spPr>
        <p:txBody>
          <a:bodyPr wrap="square">
            <a:spAutoFit/>
          </a:bodyPr>
          <a:lstStyle/>
          <a:p>
            <a:pPr>
              <a:spcAft>
                <a:spcPts val="800"/>
              </a:spcAft>
              <a:defRPr sz="1300" b="0">
                <a:solidFill>
                  <a:srgbClr val="232D37"/>
                </a:solidFill>
                <a:latin typeface="Aptos"/>
              </a:defRPr>
            </a:pPr>
            <a:r>
              <a:t>Supports blood requests, donor discovery and request-status tracking.</a:t>
            </a:r>
          </a:p>
        </p:txBody>
      </p:sp>
      <p:sp>
        <p:nvSpPr>
          <p:cNvPr id="16" name="Rectangle 15"/>
          <p:cNvSpPr/>
          <p:nvPr/>
        </p:nvSpPr>
        <p:spPr>
          <a:xfrm>
            <a:off x="8092440" y="3154680"/>
            <a:ext cx="73152" cy="205740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3291840"/>
            <a:ext cx="2971800" cy="411480"/>
          </a:xfrm>
          <a:prstGeom prst="rect">
            <a:avLst/>
          </a:prstGeom>
          <a:noFill/>
        </p:spPr>
        <p:txBody>
          <a:bodyPr wrap="square">
            <a:spAutoFit/>
          </a:bodyPr>
          <a:lstStyle/>
          <a:p>
            <a:pPr>
              <a:spcAft>
                <a:spcPts val="800"/>
              </a:spcAft>
              <a:defRPr sz="1800" b="1">
                <a:solidFill>
                  <a:srgbClr val="152D4E"/>
                </a:solidFill>
                <a:latin typeface="Aptos"/>
              </a:defRPr>
            </a:pPr>
            <a:r>
              <a:rPr dirty="0"/>
              <a:t>Medicine Discovery</a:t>
            </a:r>
          </a:p>
        </p:txBody>
      </p:sp>
      <p:sp>
        <p:nvSpPr>
          <p:cNvPr id="18" name="TextBox 17"/>
          <p:cNvSpPr txBox="1"/>
          <p:nvPr/>
        </p:nvSpPr>
        <p:spPr>
          <a:xfrm>
            <a:off x="8293608" y="3776472"/>
            <a:ext cx="2971800" cy="1280160"/>
          </a:xfrm>
          <a:prstGeom prst="rect">
            <a:avLst/>
          </a:prstGeom>
          <a:noFill/>
        </p:spPr>
        <p:txBody>
          <a:bodyPr wrap="square">
            <a:spAutoFit/>
          </a:bodyPr>
          <a:lstStyle/>
          <a:p>
            <a:pPr>
              <a:spcAft>
                <a:spcPts val="800"/>
              </a:spcAft>
              <a:defRPr sz="1300" b="0">
                <a:solidFill>
                  <a:srgbClr val="232D37"/>
                </a:solidFill>
                <a:latin typeface="Aptos"/>
              </a:defRPr>
            </a:pPr>
            <a:r>
              <a:t>Helps users find essential medicines and pharmacies with availability and location details.</a:t>
            </a:r>
          </a:p>
        </p:txBody>
      </p:sp>
      <p:sp>
        <p:nvSpPr>
          <p:cNvPr id="19" name="TextBox 18"/>
          <p:cNvSpPr txBox="1"/>
          <p:nvPr/>
        </p:nvSpPr>
        <p:spPr>
          <a:xfrm>
            <a:off x="1005840" y="5623560"/>
            <a:ext cx="10058400" cy="502920"/>
          </a:xfrm>
          <a:prstGeom prst="rect">
            <a:avLst/>
          </a:prstGeom>
          <a:noFill/>
        </p:spPr>
        <p:txBody>
          <a:bodyPr wrap="square">
            <a:spAutoFit/>
          </a:bodyPr>
          <a:lstStyle/>
          <a:p>
            <a:pPr>
              <a:spcAft>
                <a:spcPts val="800"/>
              </a:spcAft>
              <a:defRPr sz="1700" b="1">
                <a:solidFill>
                  <a:srgbClr val="152D4E"/>
                </a:solidFill>
                <a:latin typeface="Aptos"/>
              </a:defRPr>
            </a:pPr>
            <a:r>
              <a:rPr dirty="0" err="1"/>
              <a:t>MediLink</a:t>
            </a:r>
            <a:r>
              <a:rPr dirty="0"/>
              <a:t> aims to reduce the time and effort required to locate critical healthcare resources.</a:t>
            </a:r>
          </a:p>
        </p:txBody>
      </p:sp>
      <p:sp>
        <p:nvSpPr>
          <p:cNvPr id="20" name="TextBox 19"/>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Problem Statement</a:t>
            </a:r>
          </a:p>
        </p:txBody>
      </p:sp>
      <p:sp>
        <p:nvSpPr>
          <p:cNvPr id="7" name="Rectangle 6"/>
          <p:cNvSpPr/>
          <p:nvPr/>
        </p:nvSpPr>
        <p:spPr>
          <a:xfrm>
            <a:off x="640080" y="1417320"/>
            <a:ext cx="73152" cy="425196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563624"/>
            <a:ext cx="3127248" cy="365760"/>
          </a:xfrm>
          <a:prstGeom prst="rect">
            <a:avLst/>
          </a:prstGeom>
          <a:noFill/>
        </p:spPr>
        <p:txBody>
          <a:bodyPr wrap="none">
            <a:spAutoFit/>
          </a:bodyPr>
          <a:lstStyle/>
          <a:p>
            <a:pPr>
              <a:defRPr sz="1800" b="1">
                <a:solidFill>
                  <a:srgbClr val="152D4E"/>
                </a:solidFill>
                <a:latin typeface="Aptos Display"/>
              </a:defRPr>
            </a:pPr>
            <a:r>
              <a:t>Emergency delays</a:t>
            </a:r>
          </a:p>
        </p:txBody>
      </p:sp>
      <p:sp>
        <p:nvSpPr>
          <p:cNvPr id="9" name="TextBox 8"/>
          <p:cNvSpPr txBox="1"/>
          <p:nvPr/>
        </p:nvSpPr>
        <p:spPr>
          <a:xfrm>
            <a:off x="841247" y="1993392"/>
            <a:ext cx="3108960" cy="3566160"/>
          </a:xfrm>
          <a:prstGeom prst="rect">
            <a:avLst/>
          </a:prstGeom>
          <a:noFill/>
        </p:spPr>
        <p:txBody>
          <a:bodyPr wrap="square">
            <a:spAutoFit/>
          </a:bodyPr>
          <a:lstStyle/>
          <a:p>
            <a:pPr>
              <a:defRPr sz="1500">
                <a:solidFill>
                  <a:srgbClr val="232D37"/>
                </a:solidFill>
                <a:latin typeface="Aptos"/>
              </a:defRPr>
            </a:pPr>
            <a:r>
              <a:t>Patients and families may struggle to find compatible blood donors or urgently required medicines within a short period of time.</a:t>
            </a:r>
          </a:p>
        </p:txBody>
      </p:sp>
      <p:sp>
        <p:nvSpPr>
          <p:cNvPr id="11" name="Rectangle 10"/>
          <p:cNvSpPr/>
          <p:nvPr/>
        </p:nvSpPr>
        <p:spPr>
          <a:xfrm>
            <a:off x="4343400" y="1417320"/>
            <a:ext cx="73152" cy="425196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1563624"/>
            <a:ext cx="3127248" cy="365760"/>
          </a:xfrm>
          <a:prstGeom prst="rect">
            <a:avLst/>
          </a:prstGeom>
          <a:noFill/>
        </p:spPr>
        <p:txBody>
          <a:bodyPr wrap="none">
            <a:spAutoFit/>
          </a:bodyPr>
          <a:lstStyle/>
          <a:p>
            <a:pPr>
              <a:defRPr sz="1800" b="1">
                <a:solidFill>
                  <a:srgbClr val="152D4E"/>
                </a:solidFill>
                <a:latin typeface="Aptos Display"/>
              </a:defRPr>
            </a:pPr>
            <a:r>
              <a:t>Traditional methods</a:t>
            </a:r>
          </a:p>
        </p:txBody>
      </p:sp>
      <p:sp>
        <p:nvSpPr>
          <p:cNvPr id="13" name="TextBox 12"/>
          <p:cNvSpPr txBox="1"/>
          <p:nvPr/>
        </p:nvSpPr>
        <p:spPr>
          <a:xfrm>
            <a:off x="4544568" y="1993392"/>
            <a:ext cx="3108960" cy="3566160"/>
          </a:xfrm>
          <a:prstGeom prst="rect">
            <a:avLst/>
          </a:prstGeom>
          <a:noFill/>
        </p:spPr>
        <p:txBody>
          <a:bodyPr wrap="square">
            <a:spAutoFit/>
          </a:bodyPr>
          <a:lstStyle/>
          <a:p>
            <a:pPr>
              <a:defRPr sz="1500">
                <a:solidFill>
                  <a:srgbClr val="232D37"/>
                </a:solidFill>
                <a:latin typeface="Aptos"/>
              </a:defRPr>
            </a:pPr>
            <a:r>
              <a:t>Calling multiple hospitals, blood banks and pharmacies—or requesting help through social media—can be time-consuming and inefficient.</a:t>
            </a:r>
          </a:p>
        </p:txBody>
      </p:sp>
      <p:sp>
        <p:nvSpPr>
          <p:cNvPr id="15" name="Rectangle 14"/>
          <p:cNvSpPr/>
          <p:nvPr/>
        </p:nvSpPr>
        <p:spPr>
          <a:xfrm>
            <a:off x="8046720" y="1417320"/>
            <a:ext cx="73152" cy="425196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47888" y="1563624"/>
            <a:ext cx="3127248" cy="365760"/>
          </a:xfrm>
          <a:prstGeom prst="rect">
            <a:avLst/>
          </a:prstGeom>
          <a:noFill/>
        </p:spPr>
        <p:txBody>
          <a:bodyPr wrap="none">
            <a:spAutoFit/>
          </a:bodyPr>
          <a:lstStyle/>
          <a:p>
            <a:pPr>
              <a:defRPr sz="1800" b="1">
                <a:solidFill>
                  <a:srgbClr val="152D4E"/>
                </a:solidFill>
                <a:latin typeface="Aptos Display"/>
              </a:defRPr>
            </a:pPr>
            <a:r>
              <a:t>MediLink response</a:t>
            </a:r>
          </a:p>
        </p:txBody>
      </p:sp>
      <p:sp>
        <p:nvSpPr>
          <p:cNvPr id="17" name="TextBox 16"/>
          <p:cNvSpPr txBox="1"/>
          <p:nvPr/>
        </p:nvSpPr>
        <p:spPr>
          <a:xfrm>
            <a:off x="8247888" y="1993392"/>
            <a:ext cx="3108960" cy="3566160"/>
          </a:xfrm>
          <a:prstGeom prst="rect">
            <a:avLst/>
          </a:prstGeom>
          <a:noFill/>
        </p:spPr>
        <p:txBody>
          <a:bodyPr wrap="square">
            <a:spAutoFit/>
          </a:bodyPr>
          <a:lstStyle/>
          <a:p>
            <a:pPr>
              <a:defRPr sz="1500">
                <a:solidFill>
                  <a:srgbClr val="232D37"/>
                </a:solidFill>
                <a:latin typeface="Aptos"/>
              </a:defRPr>
            </a:pPr>
            <a:r>
              <a:t>A centralized digital platform connects patients, blood donors, volunteers and pharmacies to make emergency resource discovery faster.</a:t>
            </a:r>
          </a:p>
        </p:txBody>
      </p:sp>
      <p:sp>
        <p:nvSpPr>
          <p:cNvPr id="18" name="TextBox 17"/>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Project Objectives</a:t>
            </a:r>
          </a:p>
        </p:txBody>
      </p:sp>
      <p:sp>
        <p:nvSpPr>
          <p:cNvPr id="6" name="TextBox 5"/>
          <p:cNvSpPr txBox="1"/>
          <p:nvPr/>
        </p:nvSpPr>
        <p:spPr>
          <a:xfrm>
            <a:off x="822960" y="1325880"/>
            <a:ext cx="10424160" cy="4754880"/>
          </a:xfrm>
          <a:prstGeom prst="rect">
            <a:avLst/>
          </a:prstGeom>
          <a:noFill/>
        </p:spPr>
        <p:txBody>
          <a:bodyPr wrap="square">
            <a:spAutoFit/>
          </a:bodyPr>
          <a:lstStyle/>
          <a:p>
            <a:pPr>
              <a:spcAft>
                <a:spcPts val="1100"/>
              </a:spcAft>
              <a:defRPr sz="1900">
                <a:solidFill>
                  <a:srgbClr val="232D37"/>
                </a:solidFill>
                <a:latin typeface="Aptos"/>
              </a:defRPr>
            </a:pPr>
            <a:r>
              <a:rPr dirty="0"/>
              <a:t>Reduce the time and effort needed to locate critical healthcare resources.</a:t>
            </a:r>
          </a:p>
          <a:p>
            <a:pPr>
              <a:spcAft>
                <a:spcPts val="1100"/>
              </a:spcAft>
              <a:defRPr sz="1900">
                <a:solidFill>
                  <a:srgbClr val="232D37"/>
                </a:solidFill>
                <a:latin typeface="Aptos"/>
              </a:defRPr>
            </a:pPr>
            <a:r>
              <a:rPr dirty="0"/>
              <a:t>Connect patients with compatible blood donors based on blood group and location.</a:t>
            </a:r>
          </a:p>
          <a:p>
            <a:pPr>
              <a:spcAft>
                <a:spcPts val="1100"/>
              </a:spcAft>
              <a:defRPr sz="1900">
                <a:solidFill>
                  <a:srgbClr val="232D37"/>
                </a:solidFill>
                <a:latin typeface="Aptos"/>
              </a:defRPr>
            </a:pPr>
            <a:r>
              <a:rPr dirty="0"/>
              <a:t>Enable creation and tracking of emergency blood requests.</a:t>
            </a:r>
          </a:p>
          <a:p>
            <a:pPr>
              <a:spcAft>
                <a:spcPts val="1100"/>
              </a:spcAft>
              <a:defRPr sz="1900">
                <a:solidFill>
                  <a:srgbClr val="232D37"/>
                </a:solidFill>
                <a:latin typeface="Aptos"/>
              </a:defRPr>
            </a:pPr>
            <a:r>
              <a:rPr dirty="0"/>
              <a:t>Support volunteers in coordinating emergency requests.</a:t>
            </a:r>
          </a:p>
          <a:p>
            <a:pPr>
              <a:spcAft>
                <a:spcPts val="1100"/>
              </a:spcAft>
              <a:defRPr sz="1900">
                <a:solidFill>
                  <a:srgbClr val="232D37"/>
                </a:solidFill>
                <a:latin typeface="Aptos"/>
              </a:defRPr>
            </a:pPr>
            <a:r>
              <a:rPr dirty="0"/>
              <a:t>Help users find essential medicines and nearby pharmacies.</a:t>
            </a:r>
          </a:p>
          <a:p>
            <a:pPr>
              <a:spcAft>
                <a:spcPts val="1100"/>
              </a:spcAft>
              <a:defRPr sz="1900">
                <a:solidFill>
                  <a:srgbClr val="232D37"/>
                </a:solidFill>
                <a:latin typeface="Aptos"/>
              </a:defRPr>
            </a:pPr>
            <a:r>
              <a:rPr dirty="0"/>
              <a:t>Provide location-based discovery through Google Maps API integration.</a:t>
            </a:r>
          </a:p>
        </p:txBody>
      </p:sp>
      <p:sp>
        <p:nvSpPr>
          <p:cNvPr id="7" name="TextBox 6"/>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Key Modules</a:t>
            </a:r>
          </a:p>
        </p:txBody>
      </p:sp>
      <p:sp>
        <p:nvSpPr>
          <p:cNvPr id="6" name="Rounded Rectangle 5"/>
          <p:cNvSpPr/>
          <p:nvPr/>
        </p:nvSpPr>
        <p:spPr>
          <a:xfrm>
            <a:off x="640080" y="132588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325880"/>
            <a:ext cx="73152" cy="192024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472184"/>
            <a:ext cx="2898648" cy="365760"/>
          </a:xfrm>
          <a:prstGeom prst="rect">
            <a:avLst/>
          </a:prstGeom>
          <a:noFill/>
        </p:spPr>
        <p:txBody>
          <a:bodyPr wrap="none">
            <a:spAutoFit/>
          </a:bodyPr>
          <a:lstStyle/>
          <a:p>
            <a:pPr>
              <a:defRPr sz="1500" b="1">
                <a:solidFill>
                  <a:srgbClr val="152D4E"/>
                </a:solidFill>
                <a:latin typeface="Aptos Display"/>
              </a:defRPr>
            </a:pPr>
            <a:r>
              <a:t>User Accounts</a:t>
            </a:r>
          </a:p>
        </p:txBody>
      </p:sp>
      <p:sp>
        <p:nvSpPr>
          <p:cNvPr id="9" name="TextBox 8"/>
          <p:cNvSpPr txBox="1"/>
          <p:nvPr/>
        </p:nvSpPr>
        <p:spPr>
          <a:xfrm>
            <a:off x="841247" y="1901952"/>
            <a:ext cx="2880360" cy="1234440"/>
          </a:xfrm>
          <a:prstGeom prst="rect">
            <a:avLst/>
          </a:prstGeom>
          <a:noFill/>
        </p:spPr>
        <p:txBody>
          <a:bodyPr wrap="square">
            <a:spAutoFit/>
          </a:bodyPr>
          <a:lstStyle/>
          <a:p>
            <a:pPr>
              <a:defRPr sz="1100">
                <a:solidFill>
                  <a:srgbClr val="232D37"/>
                </a:solidFill>
                <a:latin typeface="Aptos"/>
              </a:defRPr>
            </a:pPr>
            <a:r>
              <a:t>Create and manage user accounts.</a:t>
            </a:r>
          </a:p>
        </p:txBody>
      </p:sp>
      <p:sp>
        <p:nvSpPr>
          <p:cNvPr id="10" name="Rounded Rectangle 9"/>
          <p:cNvSpPr/>
          <p:nvPr/>
        </p:nvSpPr>
        <p:spPr>
          <a:xfrm>
            <a:off x="4069080" y="132588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069080" y="1325880"/>
            <a:ext cx="73152" cy="192024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70248" y="1472184"/>
            <a:ext cx="2898648" cy="365760"/>
          </a:xfrm>
          <a:prstGeom prst="rect">
            <a:avLst/>
          </a:prstGeom>
          <a:noFill/>
        </p:spPr>
        <p:txBody>
          <a:bodyPr wrap="none">
            <a:spAutoFit/>
          </a:bodyPr>
          <a:lstStyle/>
          <a:p>
            <a:pPr>
              <a:defRPr sz="1500" b="1">
                <a:solidFill>
                  <a:srgbClr val="152D4E"/>
                </a:solidFill>
                <a:latin typeface="Aptos Display"/>
              </a:defRPr>
            </a:pPr>
            <a:r>
              <a:t>Blood Donor Management</a:t>
            </a:r>
          </a:p>
        </p:txBody>
      </p:sp>
      <p:sp>
        <p:nvSpPr>
          <p:cNvPr id="13" name="TextBox 12"/>
          <p:cNvSpPr txBox="1"/>
          <p:nvPr/>
        </p:nvSpPr>
        <p:spPr>
          <a:xfrm>
            <a:off x="4270248" y="1901952"/>
            <a:ext cx="2880360" cy="1234440"/>
          </a:xfrm>
          <a:prstGeom prst="rect">
            <a:avLst/>
          </a:prstGeom>
          <a:noFill/>
        </p:spPr>
        <p:txBody>
          <a:bodyPr wrap="square">
            <a:spAutoFit/>
          </a:bodyPr>
          <a:lstStyle/>
          <a:p>
            <a:pPr>
              <a:defRPr sz="1100">
                <a:solidFill>
                  <a:srgbClr val="232D37"/>
                </a:solidFill>
                <a:latin typeface="Aptos"/>
              </a:defRPr>
            </a:pPr>
            <a:r>
              <a:t>Register as a donor, maintain profile and update availability.</a:t>
            </a:r>
          </a:p>
        </p:txBody>
      </p:sp>
      <p:sp>
        <p:nvSpPr>
          <p:cNvPr id="14" name="Rounded Rectangle 13"/>
          <p:cNvSpPr/>
          <p:nvPr/>
        </p:nvSpPr>
        <p:spPr>
          <a:xfrm>
            <a:off x="7498079" y="132588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498079" y="1325880"/>
            <a:ext cx="73152" cy="192024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99248" y="1472184"/>
            <a:ext cx="2898648" cy="365760"/>
          </a:xfrm>
          <a:prstGeom prst="rect">
            <a:avLst/>
          </a:prstGeom>
          <a:noFill/>
        </p:spPr>
        <p:txBody>
          <a:bodyPr wrap="none">
            <a:spAutoFit/>
          </a:bodyPr>
          <a:lstStyle/>
          <a:p>
            <a:pPr>
              <a:defRPr sz="1500" b="1">
                <a:solidFill>
                  <a:srgbClr val="152D4E"/>
                </a:solidFill>
                <a:latin typeface="Aptos Display"/>
              </a:defRPr>
            </a:pPr>
            <a:r>
              <a:t>Emergency Blood Requests</a:t>
            </a:r>
          </a:p>
        </p:txBody>
      </p:sp>
      <p:sp>
        <p:nvSpPr>
          <p:cNvPr id="17" name="TextBox 16"/>
          <p:cNvSpPr txBox="1"/>
          <p:nvPr/>
        </p:nvSpPr>
        <p:spPr>
          <a:xfrm>
            <a:off x="7699248" y="1901952"/>
            <a:ext cx="2880360" cy="1234440"/>
          </a:xfrm>
          <a:prstGeom prst="rect">
            <a:avLst/>
          </a:prstGeom>
          <a:noFill/>
        </p:spPr>
        <p:txBody>
          <a:bodyPr wrap="square">
            <a:spAutoFit/>
          </a:bodyPr>
          <a:lstStyle/>
          <a:p>
            <a:pPr>
              <a:defRPr sz="1100">
                <a:solidFill>
                  <a:srgbClr val="232D37"/>
                </a:solidFill>
                <a:latin typeface="Aptos"/>
              </a:defRPr>
            </a:pPr>
            <a:r>
              <a:t>Specify blood group, units, hospital, location, urgency and contact details.</a:t>
            </a:r>
          </a:p>
        </p:txBody>
      </p:sp>
      <p:sp>
        <p:nvSpPr>
          <p:cNvPr id="18" name="Rounded Rectangle 17"/>
          <p:cNvSpPr/>
          <p:nvPr/>
        </p:nvSpPr>
        <p:spPr>
          <a:xfrm>
            <a:off x="640080" y="370332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 y="3703320"/>
            <a:ext cx="73152" cy="192024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7" y="3849624"/>
            <a:ext cx="2898648" cy="365760"/>
          </a:xfrm>
          <a:prstGeom prst="rect">
            <a:avLst/>
          </a:prstGeom>
          <a:noFill/>
        </p:spPr>
        <p:txBody>
          <a:bodyPr wrap="none">
            <a:spAutoFit/>
          </a:bodyPr>
          <a:lstStyle/>
          <a:p>
            <a:pPr>
              <a:defRPr sz="1500" b="1">
                <a:solidFill>
                  <a:srgbClr val="152D4E"/>
                </a:solidFill>
                <a:latin typeface="Aptos Display"/>
              </a:defRPr>
            </a:pPr>
            <a:r>
              <a:t>Volunteer Network</a:t>
            </a:r>
          </a:p>
        </p:txBody>
      </p:sp>
      <p:sp>
        <p:nvSpPr>
          <p:cNvPr id="21" name="TextBox 20"/>
          <p:cNvSpPr txBox="1"/>
          <p:nvPr/>
        </p:nvSpPr>
        <p:spPr>
          <a:xfrm>
            <a:off x="841247" y="4279392"/>
            <a:ext cx="2880360" cy="1234440"/>
          </a:xfrm>
          <a:prstGeom prst="rect">
            <a:avLst/>
          </a:prstGeom>
          <a:noFill/>
        </p:spPr>
        <p:txBody>
          <a:bodyPr wrap="square">
            <a:spAutoFit/>
          </a:bodyPr>
          <a:lstStyle/>
          <a:p>
            <a:pPr>
              <a:defRPr sz="1100">
                <a:solidFill>
                  <a:srgbClr val="232D37"/>
                </a:solidFill>
                <a:latin typeface="Aptos"/>
              </a:defRPr>
            </a:pPr>
            <a:r>
              <a:t>Assist with coordinating emergency requests and available resources.</a:t>
            </a:r>
          </a:p>
        </p:txBody>
      </p:sp>
      <p:sp>
        <p:nvSpPr>
          <p:cNvPr id="22" name="Rounded Rectangle 21"/>
          <p:cNvSpPr/>
          <p:nvPr/>
        </p:nvSpPr>
        <p:spPr>
          <a:xfrm>
            <a:off x="4069080" y="370332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069080" y="3703320"/>
            <a:ext cx="73152" cy="192024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70248" y="3849624"/>
            <a:ext cx="2898648" cy="365760"/>
          </a:xfrm>
          <a:prstGeom prst="rect">
            <a:avLst/>
          </a:prstGeom>
          <a:noFill/>
        </p:spPr>
        <p:txBody>
          <a:bodyPr wrap="none">
            <a:spAutoFit/>
          </a:bodyPr>
          <a:lstStyle/>
          <a:p>
            <a:pPr>
              <a:defRPr sz="1500" b="1">
                <a:solidFill>
                  <a:srgbClr val="152D4E"/>
                </a:solidFill>
                <a:latin typeface="Aptos Display"/>
              </a:defRPr>
            </a:pPr>
            <a:r>
              <a:t>Medicine Finder</a:t>
            </a:r>
          </a:p>
        </p:txBody>
      </p:sp>
      <p:sp>
        <p:nvSpPr>
          <p:cNvPr id="25" name="TextBox 24"/>
          <p:cNvSpPr txBox="1"/>
          <p:nvPr/>
        </p:nvSpPr>
        <p:spPr>
          <a:xfrm>
            <a:off x="4270248" y="4279392"/>
            <a:ext cx="2880360" cy="1234440"/>
          </a:xfrm>
          <a:prstGeom prst="rect">
            <a:avLst/>
          </a:prstGeom>
          <a:noFill/>
        </p:spPr>
        <p:txBody>
          <a:bodyPr wrap="square">
            <a:spAutoFit/>
          </a:bodyPr>
          <a:lstStyle/>
          <a:p>
            <a:pPr>
              <a:defRPr sz="1100">
                <a:solidFill>
                  <a:srgbClr val="232D37"/>
                </a:solidFill>
                <a:latin typeface="Aptos"/>
              </a:defRPr>
            </a:pPr>
            <a:r>
              <a:t>Search essential medicines and identify pharmacies where they are available.</a:t>
            </a:r>
          </a:p>
        </p:txBody>
      </p:sp>
      <p:sp>
        <p:nvSpPr>
          <p:cNvPr id="26" name="Rounded Rectangle 25"/>
          <p:cNvSpPr/>
          <p:nvPr/>
        </p:nvSpPr>
        <p:spPr>
          <a:xfrm>
            <a:off x="7498079" y="370332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98079" y="3703320"/>
            <a:ext cx="73152" cy="192024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99248" y="3849624"/>
            <a:ext cx="2898648" cy="365760"/>
          </a:xfrm>
          <a:prstGeom prst="rect">
            <a:avLst/>
          </a:prstGeom>
          <a:noFill/>
        </p:spPr>
        <p:txBody>
          <a:bodyPr wrap="none">
            <a:spAutoFit/>
          </a:bodyPr>
          <a:lstStyle/>
          <a:p>
            <a:pPr>
              <a:defRPr sz="1500" b="1">
                <a:solidFill>
                  <a:srgbClr val="152D4E"/>
                </a:solidFill>
                <a:latin typeface="Aptos Display"/>
              </a:defRPr>
            </a:pPr>
            <a:r>
              <a:t>Pharmacy Services</a:t>
            </a:r>
          </a:p>
        </p:txBody>
      </p:sp>
      <p:sp>
        <p:nvSpPr>
          <p:cNvPr id="29" name="TextBox 28"/>
          <p:cNvSpPr txBox="1"/>
          <p:nvPr/>
        </p:nvSpPr>
        <p:spPr>
          <a:xfrm>
            <a:off x="7699248" y="4279392"/>
            <a:ext cx="2880360" cy="1234440"/>
          </a:xfrm>
          <a:prstGeom prst="rect">
            <a:avLst/>
          </a:prstGeom>
          <a:noFill/>
        </p:spPr>
        <p:txBody>
          <a:bodyPr wrap="square">
            <a:spAutoFit/>
          </a:bodyPr>
          <a:lstStyle/>
          <a:p>
            <a:pPr>
              <a:defRPr sz="1100">
                <a:solidFill>
                  <a:srgbClr val="232D37"/>
                </a:solidFill>
                <a:latin typeface="Aptos"/>
              </a:defRPr>
            </a:pPr>
            <a:r>
              <a:t>View pharmacy location, medicine availability and contact details.</a:t>
            </a:r>
          </a:p>
        </p:txBody>
      </p:sp>
      <p:sp>
        <p:nvSpPr>
          <p:cNvPr id="30" name="TextBox 29"/>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Emergency Blood Request Workflow</a:t>
            </a:r>
          </a:p>
        </p:txBody>
      </p:sp>
      <p:sp>
        <p:nvSpPr>
          <p:cNvPr id="6" name="Rounded Rectangle 5"/>
          <p:cNvSpPr/>
          <p:nvPr/>
        </p:nvSpPr>
        <p:spPr>
          <a:xfrm>
            <a:off x="502920" y="1828800"/>
            <a:ext cx="1920240" cy="2834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828800"/>
            <a:ext cx="73152" cy="283464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975104"/>
            <a:ext cx="1572768" cy="365760"/>
          </a:xfrm>
          <a:prstGeom prst="rect">
            <a:avLst/>
          </a:prstGeom>
          <a:noFill/>
        </p:spPr>
        <p:txBody>
          <a:bodyPr wrap="none">
            <a:spAutoFit/>
          </a:bodyPr>
          <a:lstStyle/>
          <a:p>
            <a:pPr>
              <a:defRPr sz="1400" b="1">
                <a:solidFill>
                  <a:srgbClr val="152D4E"/>
                </a:solidFill>
                <a:latin typeface="Aptos Display"/>
              </a:defRPr>
            </a:pPr>
            <a:r>
              <a:t>Create Request</a:t>
            </a:r>
          </a:p>
        </p:txBody>
      </p:sp>
      <p:sp>
        <p:nvSpPr>
          <p:cNvPr id="9" name="TextBox 8"/>
          <p:cNvSpPr txBox="1"/>
          <p:nvPr/>
        </p:nvSpPr>
        <p:spPr>
          <a:xfrm>
            <a:off x="704088" y="2404872"/>
            <a:ext cx="1554480" cy="2148840"/>
          </a:xfrm>
          <a:prstGeom prst="rect">
            <a:avLst/>
          </a:prstGeom>
          <a:noFill/>
        </p:spPr>
        <p:txBody>
          <a:bodyPr wrap="square">
            <a:spAutoFit/>
          </a:bodyPr>
          <a:lstStyle/>
          <a:p>
            <a:pPr>
              <a:defRPr sz="1000">
                <a:solidFill>
                  <a:srgbClr val="232D37"/>
                </a:solidFill>
                <a:latin typeface="Aptos"/>
              </a:defRPr>
            </a:pPr>
            <a:r>
              <a:t>Blood group, units, hospital, location, urgency</a:t>
            </a:r>
          </a:p>
        </p:txBody>
      </p:sp>
      <p:sp>
        <p:nvSpPr>
          <p:cNvPr id="10" name="Oval 9"/>
          <p:cNvSpPr/>
          <p:nvPr/>
        </p:nvSpPr>
        <p:spPr>
          <a:xfrm>
            <a:off x="1197864" y="1234440"/>
            <a:ext cx="530352" cy="530352"/>
          </a:xfrm>
          <a:prstGeom prst="ellipse">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1</a:t>
            </a:r>
          </a:p>
        </p:txBody>
      </p:sp>
      <p:cxnSp>
        <p:nvCxnSpPr>
          <p:cNvPr id="11" name="Connector 10"/>
          <p:cNvCxnSpPr/>
          <p:nvPr/>
        </p:nvCxnSpPr>
        <p:spPr>
          <a:xfrm>
            <a:off x="2423160" y="2743200"/>
            <a:ext cx="411480" cy="0"/>
          </a:xfrm>
          <a:prstGeom prst="line">
            <a:avLst/>
          </a:prstGeom>
          <a:ln w="25400">
            <a:solidFill>
              <a:srgbClr val="E1EAF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34640" y="1828800"/>
            <a:ext cx="1920240" cy="2834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834640" y="1828800"/>
            <a:ext cx="73152" cy="283464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35808" y="1975104"/>
            <a:ext cx="1572768" cy="365760"/>
          </a:xfrm>
          <a:prstGeom prst="rect">
            <a:avLst/>
          </a:prstGeom>
          <a:noFill/>
        </p:spPr>
        <p:txBody>
          <a:bodyPr wrap="none">
            <a:spAutoFit/>
          </a:bodyPr>
          <a:lstStyle/>
          <a:p>
            <a:pPr>
              <a:defRPr sz="1400" b="1">
                <a:solidFill>
                  <a:srgbClr val="152D4E"/>
                </a:solidFill>
                <a:latin typeface="Aptos Display"/>
              </a:defRPr>
            </a:pPr>
            <a:r>
              <a:t>Find Resources</a:t>
            </a:r>
          </a:p>
        </p:txBody>
      </p:sp>
      <p:sp>
        <p:nvSpPr>
          <p:cNvPr id="15" name="TextBox 14"/>
          <p:cNvSpPr txBox="1"/>
          <p:nvPr/>
        </p:nvSpPr>
        <p:spPr>
          <a:xfrm>
            <a:off x="3035808" y="2404872"/>
            <a:ext cx="1554480" cy="2148840"/>
          </a:xfrm>
          <a:prstGeom prst="rect">
            <a:avLst/>
          </a:prstGeom>
          <a:noFill/>
        </p:spPr>
        <p:txBody>
          <a:bodyPr wrap="square">
            <a:spAutoFit/>
          </a:bodyPr>
          <a:lstStyle/>
          <a:p>
            <a:pPr>
              <a:defRPr sz="1000">
                <a:solidFill>
                  <a:srgbClr val="232D37"/>
                </a:solidFill>
                <a:latin typeface="Aptos"/>
              </a:defRPr>
            </a:pPr>
            <a:r>
              <a:t>Search compatible donors and available volunteers</a:t>
            </a:r>
          </a:p>
        </p:txBody>
      </p:sp>
      <p:sp>
        <p:nvSpPr>
          <p:cNvPr id="16" name="Oval 15"/>
          <p:cNvSpPr/>
          <p:nvPr/>
        </p:nvSpPr>
        <p:spPr>
          <a:xfrm>
            <a:off x="3529584" y="1234440"/>
            <a:ext cx="530352" cy="530352"/>
          </a:xfrm>
          <a:prstGeom prst="ellipse">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2</a:t>
            </a:r>
          </a:p>
        </p:txBody>
      </p:sp>
      <p:cxnSp>
        <p:nvCxnSpPr>
          <p:cNvPr id="17" name="Connector 16"/>
          <p:cNvCxnSpPr/>
          <p:nvPr/>
        </p:nvCxnSpPr>
        <p:spPr>
          <a:xfrm>
            <a:off x="4754880" y="2743200"/>
            <a:ext cx="411480" cy="0"/>
          </a:xfrm>
          <a:prstGeom prst="line">
            <a:avLst/>
          </a:prstGeom>
          <a:ln w="25400">
            <a:solidFill>
              <a:srgbClr val="E1EAF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66360" y="1828800"/>
            <a:ext cx="1920240" cy="2834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66360" y="1828800"/>
            <a:ext cx="73152" cy="283464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67528" y="1975104"/>
            <a:ext cx="1572768" cy="365760"/>
          </a:xfrm>
          <a:prstGeom prst="rect">
            <a:avLst/>
          </a:prstGeom>
          <a:noFill/>
        </p:spPr>
        <p:txBody>
          <a:bodyPr wrap="none">
            <a:spAutoFit/>
          </a:bodyPr>
          <a:lstStyle/>
          <a:p>
            <a:pPr>
              <a:defRPr sz="1400" b="1">
                <a:solidFill>
                  <a:srgbClr val="152D4E"/>
                </a:solidFill>
                <a:latin typeface="Aptos Display"/>
              </a:defRPr>
            </a:pPr>
            <a:r>
              <a:t>Accept</a:t>
            </a:r>
          </a:p>
        </p:txBody>
      </p:sp>
      <p:sp>
        <p:nvSpPr>
          <p:cNvPr id="21" name="TextBox 20"/>
          <p:cNvSpPr txBox="1"/>
          <p:nvPr/>
        </p:nvSpPr>
        <p:spPr>
          <a:xfrm>
            <a:off x="5367528" y="2404872"/>
            <a:ext cx="1554480" cy="2148840"/>
          </a:xfrm>
          <a:prstGeom prst="rect">
            <a:avLst/>
          </a:prstGeom>
          <a:noFill/>
        </p:spPr>
        <p:txBody>
          <a:bodyPr wrap="square">
            <a:spAutoFit/>
          </a:bodyPr>
          <a:lstStyle/>
          <a:p>
            <a:pPr>
              <a:defRPr sz="1000">
                <a:solidFill>
                  <a:srgbClr val="232D37"/>
                </a:solidFill>
                <a:latin typeface="Aptos"/>
              </a:defRPr>
            </a:pPr>
            <a:r>
              <a:t>A donor/volunteer accepts the emergency request</a:t>
            </a:r>
          </a:p>
        </p:txBody>
      </p:sp>
      <p:sp>
        <p:nvSpPr>
          <p:cNvPr id="22" name="Oval 21"/>
          <p:cNvSpPr/>
          <p:nvPr/>
        </p:nvSpPr>
        <p:spPr>
          <a:xfrm>
            <a:off x="5861304" y="1234440"/>
            <a:ext cx="530352" cy="530352"/>
          </a:xfrm>
          <a:prstGeom prst="ellipse">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3</a:t>
            </a:r>
          </a:p>
        </p:txBody>
      </p:sp>
      <p:cxnSp>
        <p:nvCxnSpPr>
          <p:cNvPr id="23" name="Connector 22"/>
          <p:cNvCxnSpPr/>
          <p:nvPr/>
        </p:nvCxnSpPr>
        <p:spPr>
          <a:xfrm>
            <a:off x="7086600" y="2743200"/>
            <a:ext cx="411479" cy="0"/>
          </a:xfrm>
          <a:prstGeom prst="line">
            <a:avLst/>
          </a:prstGeom>
          <a:ln w="25400">
            <a:solidFill>
              <a:srgbClr val="E1EAF4"/>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498079" y="1828800"/>
            <a:ext cx="1920240" cy="2834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498079" y="1828800"/>
            <a:ext cx="73152" cy="283464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99248" y="1975104"/>
            <a:ext cx="1572768" cy="365760"/>
          </a:xfrm>
          <a:prstGeom prst="rect">
            <a:avLst/>
          </a:prstGeom>
          <a:noFill/>
        </p:spPr>
        <p:txBody>
          <a:bodyPr wrap="none">
            <a:spAutoFit/>
          </a:bodyPr>
          <a:lstStyle/>
          <a:p>
            <a:pPr>
              <a:defRPr sz="1400" b="1">
                <a:solidFill>
                  <a:srgbClr val="152D4E"/>
                </a:solidFill>
                <a:latin typeface="Aptos Display"/>
              </a:defRPr>
            </a:pPr>
            <a:r>
              <a:t>In Progress</a:t>
            </a:r>
          </a:p>
        </p:txBody>
      </p:sp>
      <p:sp>
        <p:nvSpPr>
          <p:cNvPr id="27" name="TextBox 26"/>
          <p:cNvSpPr txBox="1"/>
          <p:nvPr/>
        </p:nvSpPr>
        <p:spPr>
          <a:xfrm>
            <a:off x="7699248" y="2404872"/>
            <a:ext cx="1554480" cy="2148840"/>
          </a:xfrm>
          <a:prstGeom prst="rect">
            <a:avLst/>
          </a:prstGeom>
          <a:noFill/>
        </p:spPr>
        <p:txBody>
          <a:bodyPr wrap="square">
            <a:spAutoFit/>
          </a:bodyPr>
          <a:lstStyle/>
          <a:p>
            <a:pPr>
              <a:defRPr sz="1000">
                <a:solidFill>
                  <a:srgbClr val="232D37"/>
                </a:solidFill>
                <a:latin typeface="Aptos"/>
              </a:defRPr>
            </a:pPr>
            <a:r>
              <a:t>Coordination and response are underway</a:t>
            </a:r>
          </a:p>
        </p:txBody>
      </p:sp>
      <p:sp>
        <p:nvSpPr>
          <p:cNvPr id="28" name="Oval 27"/>
          <p:cNvSpPr/>
          <p:nvPr/>
        </p:nvSpPr>
        <p:spPr>
          <a:xfrm>
            <a:off x="8193023" y="1234440"/>
            <a:ext cx="530352" cy="530352"/>
          </a:xfrm>
          <a:prstGeom prst="ellipse">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4</a:t>
            </a:r>
          </a:p>
        </p:txBody>
      </p:sp>
      <p:cxnSp>
        <p:nvCxnSpPr>
          <p:cNvPr id="29" name="Connector 28"/>
          <p:cNvCxnSpPr/>
          <p:nvPr/>
        </p:nvCxnSpPr>
        <p:spPr>
          <a:xfrm>
            <a:off x="9418319" y="2743200"/>
            <a:ext cx="411481" cy="0"/>
          </a:xfrm>
          <a:prstGeom prst="line">
            <a:avLst/>
          </a:prstGeom>
          <a:ln w="25400">
            <a:solidFill>
              <a:srgbClr val="E1EAF4"/>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829800" y="1828800"/>
            <a:ext cx="1920240" cy="2834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829800" y="1828800"/>
            <a:ext cx="73152" cy="283464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030968" y="1975104"/>
            <a:ext cx="1572768" cy="365760"/>
          </a:xfrm>
          <a:prstGeom prst="rect">
            <a:avLst/>
          </a:prstGeom>
          <a:noFill/>
        </p:spPr>
        <p:txBody>
          <a:bodyPr wrap="none">
            <a:spAutoFit/>
          </a:bodyPr>
          <a:lstStyle/>
          <a:p>
            <a:pPr>
              <a:defRPr sz="1400" b="1">
                <a:solidFill>
                  <a:srgbClr val="152D4E"/>
                </a:solidFill>
                <a:latin typeface="Aptos Display"/>
              </a:defRPr>
            </a:pPr>
            <a:r>
              <a:t>Completed</a:t>
            </a:r>
          </a:p>
        </p:txBody>
      </p:sp>
      <p:sp>
        <p:nvSpPr>
          <p:cNvPr id="33" name="TextBox 32"/>
          <p:cNvSpPr txBox="1"/>
          <p:nvPr/>
        </p:nvSpPr>
        <p:spPr>
          <a:xfrm>
            <a:off x="10030968" y="2404872"/>
            <a:ext cx="1554480" cy="2148840"/>
          </a:xfrm>
          <a:prstGeom prst="rect">
            <a:avLst/>
          </a:prstGeom>
          <a:noFill/>
        </p:spPr>
        <p:txBody>
          <a:bodyPr wrap="square">
            <a:spAutoFit/>
          </a:bodyPr>
          <a:lstStyle/>
          <a:p>
            <a:pPr>
              <a:defRPr sz="1000">
                <a:solidFill>
                  <a:srgbClr val="232D37"/>
                </a:solidFill>
                <a:latin typeface="Aptos"/>
              </a:defRPr>
            </a:pPr>
            <a:r>
              <a:t>Request is completed and status is updated</a:t>
            </a:r>
          </a:p>
        </p:txBody>
      </p:sp>
      <p:sp>
        <p:nvSpPr>
          <p:cNvPr id="34" name="Oval 33"/>
          <p:cNvSpPr/>
          <p:nvPr/>
        </p:nvSpPr>
        <p:spPr>
          <a:xfrm>
            <a:off x="10524744" y="1234440"/>
            <a:ext cx="530352" cy="530352"/>
          </a:xfrm>
          <a:prstGeom prst="ellipse">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5</a:t>
            </a:r>
          </a:p>
        </p:txBody>
      </p:sp>
      <p:sp>
        <p:nvSpPr>
          <p:cNvPr id="35" name="TextBox 34"/>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16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Medicine Finder &amp; Location Services</a:t>
            </a:r>
          </a:p>
        </p:txBody>
      </p:sp>
      <p:sp>
        <p:nvSpPr>
          <p:cNvPr id="6" name="Rounded Rectangle 5"/>
          <p:cNvSpPr/>
          <p:nvPr/>
        </p:nvSpPr>
        <p:spPr>
          <a:xfrm>
            <a:off x="68580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73152" cy="429768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563624"/>
            <a:ext cx="4864608" cy="365760"/>
          </a:xfrm>
          <a:prstGeom prst="rect">
            <a:avLst/>
          </a:prstGeom>
          <a:noFill/>
        </p:spPr>
        <p:txBody>
          <a:bodyPr wrap="none">
            <a:spAutoFit/>
          </a:bodyPr>
          <a:lstStyle/>
          <a:p>
            <a:pPr>
              <a:defRPr sz="1900" b="1">
                <a:solidFill>
                  <a:srgbClr val="152D4E"/>
                </a:solidFill>
                <a:latin typeface="Aptos Display"/>
              </a:defRPr>
            </a:pPr>
            <a:r>
              <a:t>Medicine Finder</a:t>
            </a:r>
          </a:p>
        </p:txBody>
      </p:sp>
      <p:sp>
        <p:nvSpPr>
          <p:cNvPr id="9" name="TextBox 8"/>
          <p:cNvSpPr txBox="1"/>
          <p:nvPr/>
        </p:nvSpPr>
        <p:spPr>
          <a:xfrm>
            <a:off x="886968" y="1993392"/>
            <a:ext cx="4846320" cy="3611880"/>
          </a:xfrm>
          <a:prstGeom prst="rect">
            <a:avLst/>
          </a:prstGeom>
          <a:noFill/>
        </p:spPr>
        <p:txBody>
          <a:bodyPr wrap="square">
            <a:spAutoFit/>
          </a:bodyPr>
          <a:lstStyle/>
          <a:p>
            <a:pPr>
              <a:defRPr sz="1500">
                <a:solidFill>
                  <a:srgbClr val="232D37"/>
                </a:solidFill>
                <a:latin typeface="Aptos"/>
              </a:defRPr>
            </a:pPr>
            <a:r>
              <a:t>• Search for essential medicines</a:t>
            </a:r>
            <a:br/>
            <a:r>
              <a:t>• Identify pharmacies where medicines are available</a:t>
            </a:r>
            <a:br/>
            <a:r>
              <a:t>• View pharmacy information</a:t>
            </a:r>
            <a:br/>
            <a:r>
              <a:t>• Check medicine availability</a:t>
            </a:r>
            <a:br/>
            <a:r>
              <a:t>• Access location and contact details</a:t>
            </a:r>
          </a:p>
        </p:txBody>
      </p:sp>
      <p:sp>
        <p:nvSpPr>
          <p:cNvPr id="10" name="Rounded Rectangle 9"/>
          <p:cNvSpPr/>
          <p:nvPr/>
        </p:nvSpPr>
        <p:spPr>
          <a:xfrm>
            <a:off x="630936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417320"/>
            <a:ext cx="73152" cy="429768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563624"/>
            <a:ext cx="4864608" cy="365760"/>
          </a:xfrm>
          <a:prstGeom prst="rect">
            <a:avLst/>
          </a:prstGeom>
          <a:noFill/>
        </p:spPr>
        <p:txBody>
          <a:bodyPr wrap="none">
            <a:spAutoFit/>
          </a:bodyPr>
          <a:lstStyle/>
          <a:p>
            <a:pPr>
              <a:defRPr sz="1900" b="1">
                <a:solidFill>
                  <a:srgbClr val="152D4E"/>
                </a:solidFill>
                <a:latin typeface="Aptos Display"/>
              </a:defRPr>
            </a:pPr>
            <a:r>
              <a:t>Location-Based Assistance</a:t>
            </a:r>
          </a:p>
        </p:txBody>
      </p:sp>
      <p:sp>
        <p:nvSpPr>
          <p:cNvPr id="13" name="TextBox 12"/>
          <p:cNvSpPr txBox="1"/>
          <p:nvPr/>
        </p:nvSpPr>
        <p:spPr>
          <a:xfrm>
            <a:off x="6510528" y="1993392"/>
            <a:ext cx="4846320" cy="3611880"/>
          </a:xfrm>
          <a:prstGeom prst="rect">
            <a:avLst/>
          </a:prstGeom>
          <a:noFill/>
        </p:spPr>
        <p:txBody>
          <a:bodyPr wrap="square">
            <a:spAutoFit/>
          </a:bodyPr>
          <a:lstStyle/>
          <a:p>
            <a:pPr>
              <a:defRPr sz="1500">
                <a:solidFill>
                  <a:srgbClr val="232D37"/>
                </a:solidFill>
                <a:latin typeface="Aptos"/>
              </a:defRPr>
            </a:pPr>
            <a:r>
              <a:t>• Google Maps API can enhance location functionality</a:t>
            </a:r>
            <a:br/>
            <a:r>
              <a:t>• Identify nearby donors and pharmacies</a:t>
            </a:r>
            <a:br/>
            <a:r>
              <a:t>• Support faster emergency resource discovery</a:t>
            </a:r>
            <a:br/>
            <a:r>
              <a:t>• REST APIs can communicate with external services</a:t>
            </a:r>
          </a:p>
        </p:txBody>
      </p:sp>
      <p:sp>
        <p:nvSpPr>
          <p:cNvPr id="14" name="TextBox 13"/>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Technology Stack</a:t>
            </a:r>
          </a:p>
        </p:txBody>
      </p:sp>
      <p:sp>
        <p:nvSpPr>
          <p:cNvPr id="5" name="TextBox 4"/>
          <p:cNvSpPr txBox="1"/>
          <p:nvPr/>
        </p:nvSpPr>
        <p:spPr>
          <a:xfrm>
            <a:off x="621792" y="868680"/>
            <a:ext cx="10789920" cy="320040"/>
          </a:xfrm>
          <a:prstGeom prst="rect">
            <a:avLst/>
          </a:prstGeom>
          <a:noFill/>
        </p:spPr>
        <p:txBody>
          <a:bodyPr wrap="none">
            <a:spAutoFit/>
          </a:bodyPr>
          <a:lstStyle/>
          <a:p>
            <a:pPr>
              <a:defRPr sz="1200">
                <a:solidFill>
                  <a:srgbClr val="2369B4"/>
                </a:solidFill>
                <a:latin typeface="Aptos"/>
              </a:defRPr>
            </a:pPr>
            <a:r>
              <a:t>Technologies specified in the project abstract</a:t>
            </a:r>
          </a:p>
        </p:txBody>
      </p:sp>
      <p:sp>
        <p:nvSpPr>
          <p:cNvPr id="6" name="Rounded Rectangle 5"/>
          <p:cNvSpPr/>
          <p:nvPr/>
        </p:nvSpPr>
        <p:spPr>
          <a:xfrm>
            <a:off x="685800" y="132588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325880"/>
            <a:ext cx="73152" cy="96012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472184"/>
            <a:ext cx="4910328" cy="365760"/>
          </a:xfrm>
          <a:prstGeom prst="rect">
            <a:avLst/>
          </a:prstGeom>
          <a:noFill/>
        </p:spPr>
        <p:txBody>
          <a:bodyPr wrap="none">
            <a:spAutoFit/>
          </a:bodyPr>
          <a:lstStyle/>
          <a:p>
            <a:pPr>
              <a:defRPr sz="1400" b="1">
                <a:solidFill>
                  <a:srgbClr val="152D4E"/>
                </a:solidFill>
                <a:latin typeface="Aptos Display"/>
              </a:defRPr>
            </a:pPr>
            <a:r>
              <a:t>Frontend</a:t>
            </a:r>
          </a:p>
        </p:txBody>
      </p:sp>
      <p:sp>
        <p:nvSpPr>
          <p:cNvPr id="9" name="TextBox 8"/>
          <p:cNvSpPr txBox="1"/>
          <p:nvPr/>
        </p:nvSpPr>
        <p:spPr>
          <a:xfrm>
            <a:off x="886968" y="1901952"/>
            <a:ext cx="4892040" cy="274320"/>
          </a:xfrm>
          <a:prstGeom prst="rect">
            <a:avLst/>
          </a:prstGeom>
          <a:noFill/>
        </p:spPr>
        <p:txBody>
          <a:bodyPr wrap="square">
            <a:spAutoFit/>
          </a:bodyPr>
          <a:lstStyle/>
          <a:p>
            <a:pPr>
              <a:defRPr sz="1100">
                <a:solidFill>
                  <a:srgbClr val="232D37"/>
                </a:solidFill>
                <a:latin typeface="Aptos"/>
              </a:defRPr>
            </a:pPr>
            <a:r>
              <a:t>JSP • HTML5 • CSS3 • JavaScript</a:t>
            </a:r>
          </a:p>
        </p:txBody>
      </p:sp>
      <p:sp>
        <p:nvSpPr>
          <p:cNvPr id="10" name="Rounded Rectangle 9"/>
          <p:cNvSpPr/>
          <p:nvPr/>
        </p:nvSpPr>
        <p:spPr>
          <a:xfrm>
            <a:off x="6309360" y="132588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325880"/>
            <a:ext cx="73152" cy="96012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472184"/>
            <a:ext cx="4910328" cy="365760"/>
          </a:xfrm>
          <a:prstGeom prst="rect">
            <a:avLst/>
          </a:prstGeom>
          <a:noFill/>
        </p:spPr>
        <p:txBody>
          <a:bodyPr wrap="none">
            <a:spAutoFit/>
          </a:bodyPr>
          <a:lstStyle/>
          <a:p>
            <a:pPr>
              <a:defRPr sz="1400" b="1">
                <a:solidFill>
                  <a:srgbClr val="152D4E"/>
                </a:solidFill>
                <a:latin typeface="Aptos Display"/>
              </a:defRPr>
            </a:pPr>
            <a:r>
              <a:t>Backend</a:t>
            </a:r>
          </a:p>
        </p:txBody>
      </p:sp>
      <p:sp>
        <p:nvSpPr>
          <p:cNvPr id="13" name="TextBox 12"/>
          <p:cNvSpPr txBox="1"/>
          <p:nvPr/>
        </p:nvSpPr>
        <p:spPr>
          <a:xfrm>
            <a:off x="6510528" y="1901952"/>
            <a:ext cx="4892040" cy="274320"/>
          </a:xfrm>
          <a:prstGeom prst="rect">
            <a:avLst/>
          </a:prstGeom>
          <a:noFill/>
        </p:spPr>
        <p:txBody>
          <a:bodyPr wrap="square">
            <a:spAutoFit/>
          </a:bodyPr>
          <a:lstStyle/>
          <a:p>
            <a:pPr>
              <a:defRPr sz="1100">
                <a:solidFill>
                  <a:srgbClr val="232D37"/>
                </a:solidFill>
                <a:latin typeface="Aptos"/>
              </a:defRPr>
            </a:pPr>
            <a:r>
              <a:t>Java</a:t>
            </a:r>
          </a:p>
        </p:txBody>
      </p:sp>
      <p:sp>
        <p:nvSpPr>
          <p:cNvPr id="14" name="Rounded Rectangle 13"/>
          <p:cNvSpPr/>
          <p:nvPr/>
        </p:nvSpPr>
        <p:spPr>
          <a:xfrm>
            <a:off x="685800" y="256032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5800" y="2560320"/>
            <a:ext cx="73152" cy="96012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2706624"/>
            <a:ext cx="4910328" cy="365760"/>
          </a:xfrm>
          <a:prstGeom prst="rect">
            <a:avLst/>
          </a:prstGeom>
          <a:noFill/>
        </p:spPr>
        <p:txBody>
          <a:bodyPr wrap="none">
            <a:spAutoFit/>
          </a:bodyPr>
          <a:lstStyle/>
          <a:p>
            <a:pPr>
              <a:defRPr sz="1400" b="1">
                <a:solidFill>
                  <a:srgbClr val="152D4E"/>
                </a:solidFill>
                <a:latin typeface="Aptos Display"/>
              </a:defRPr>
            </a:pPr>
            <a:r>
              <a:t>Database</a:t>
            </a:r>
          </a:p>
        </p:txBody>
      </p:sp>
      <p:sp>
        <p:nvSpPr>
          <p:cNvPr id="17" name="TextBox 16"/>
          <p:cNvSpPr txBox="1"/>
          <p:nvPr/>
        </p:nvSpPr>
        <p:spPr>
          <a:xfrm>
            <a:off x="886968" y="3136391"/>
            <a:ext cx="4892040" cy="274320"/>
          </a:xfrm>
          <a:prstGeom prst="rect">
            <a:avLst/>
          </a:prstGeom>
          <a:noFill/>
        </p:spPr>
        <p:txBody>
          <a:bodyPr wrap="square">
            <a:spAutoFit/>
          </a:bodyPr>
          <a:lstStyle/>
          <a:p>
            <a:pPr>
              <a:defRPr sz="1100">
                <a:solidFill>
                  <a:srgbClr val="232D37"/>
                </a:solidFill>
                <a:latin typeface="Aptos"/>
              </a:defRPr>
            </a:pPr>
            <a:r>
              <a:t>MySQL</a:t>
            </a:r>
          </a:p>
        </p:txBody>
      </p:sp>
      <p:sp>
        <p:nvSpPr>
          <p:cNvPr id="18" name="Rounded Rectangle 17"/>
          <p:cNvSpPr/>
          <p:nvPr/>
        </p:nvSpPr>
        <p:spPr>
          <a:xfrm>
            <a:off x="6309360" y="256032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9360" y="2560320"/>
            <a:ext cx="73152" cy="96012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10528" y="2706624"/>
            <a:ext cx="4910328" cy="365760"/>
          </a:xfrm>
          <a:prstGeom prst="rect">
            <a:avLst/>
          </a:prstGeom>
          <a:noFill/>
        </p:spPr>
        <p:txBody>
          <a:bodyPr wrap="none">
            <a:spAutoFit/>
          </a:bodyPr>
          <a:lstStyle/>
          <a:p>
            <a:pPr>
              <a:defRPr sz="1400" b="1">
                <a:solidFill>
                  <a:srgbClr val="152D4E"/>
                </a:solidFill>
                <a:latin typeface="Aptos Display"/>
              </a:defRPr>
            </a:pPr>
            <a:r>
              <a:t>Database Connectivity</a:t>
            </a:r>
          </a:p>
        </p:txBody>
      </p:sp>
      <p:sp>
        <p:nvSpPr>
          <p:cNvPr id="21" name="TextBox 20"/>
          <p:cNvSpPr txBox="1"/>
          <p:nvPr/>
        </p:nvSpPr>
        <p:spPr>
          <a:xfrm>
            <a:off x="6510528" y="3136391"/>
            <a:ext cx="4892040" cy="274320"/>
          </a:xfrm>
          <a:prstGeom prst="rect">
            <a:avLst/>
          </a:prstGeom>
          <a:noFill/>
        </p:spPr>
        <p:txBody>
          <a:bodyPr wrap="square">
            <a:spAutoFit/>
          </a:bodyPr>
          <a:lstStyle/>
          <a:p>
            <a:pPr>
              <a:defRPr sz="1100">
                <a:solidFill>
                  <a:srgbClr val="232D37"/>
                </a:solidFill>
                <a:latin typeface="Aptos"/>
              </a:defRPr>
            </a:pPr>
            <a:r>
              <a:t>JDBC (Java Database Connectivity)</a:t>
            </a:r>
          </a:p>
        </p:txBody>
      </p:sp>
      <p:sp>
        <p:nvSpPr>
          <p:cNvPr id="22" name="Rounded Rectangle 21"/>
          <p:cNvSpPr/>
          <p:nvPr/>
        </p:nvSpPr>
        <p:spPr>
          <a:xfrm>
            <a:off x="685800" y="379476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85800" y="3794760"/>
            <a:ext cx="73152" cy="96012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6968" y="3941064"/>
            <a:ext cx="4910328" cy="365760"/>
          </a:xfrm>
          <a:prstGeom prst="rect">
            <a:avLst/>
          </a:prstGeom>
          <a:noFill/>
        </p:spPr>
        <p:txBody>
          <a:bodyPr wrap="none">
            <a:spAutoFit/>
          </a:bodyPr>
          <a:lstStyle/>
          <a:p>
            <a:pPr>
              <a:defRPr sz="1400" b="1">
                <a:solidFill>
                  <a:srgbClr val="152D4E"/>
                </a:solidFill>
                <a:latin typeface="Aptos Display"/>
              </a:defRPr>
            </a:pPr>
            <a:r>
              <a:t>Application Server</a:t>
            </a:r>
          </a:p>
        </p:txBody>
      </p:sp>
      <p:sp>
        <p:nvSpPr>
          <p:cNvPr id="25" name="TextBox 24"/>
          <p:cNvSpPr txBox="1"/>
          <p:nvPr/>
        </p:nvSpPr>
        <p:spPr>
          <a:xfrm>
            <a:off x="886968" y="4370832"/>
            <a:ext cx="4892040" cy="274320"/>
          </a:xfrm>
          <a:prstGeom prst="rect">
            <a:avLst/>
          </a:prstGeom>
          <a:noFill/>
        </p:spPr>
        <p:txBody>
          <a:bodyPr wrap="square">
            <a:spAutoFit/>
          </a:bodyPr>
          <a:lstStyle/>
          <a:p>
            <a:pPr>
              <a:defRPr sz="1100">
                <a:solidFill>
                  <a:srgbClr val="232D37"/>
                </a:solidFill>
                <a:latin typeface="Aptos"/>
              </a:defRPr>
            </a:pPr>
            <a:r>
              <a:t>Apache Tomcat</a:t>
            </a:r>
          </a:p>
        </p:txBody>
      </p:sp>
      <p:sp>
        <p:nvSpPr>
          <p:cNvPr id="26" name="Rounded Rectangle 25"/>
          <p:cNvSpPr/>
          <p:nvPr/>
        </p:nvSpPr>
        <p:spPr>
          <a:xfrm>
            <a:off x="6309360" y="379476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09360" y="3794760"/>
            <a:ext cx="73152" cy="96012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10528" y="3941064"/>
            <a:ext cx="4910328" cy="365760"/>
          </a:xfrm>
          <a:prstGeom prst="rect">
            <a:avLst/>
          </a:prstGeom>
          <a:noFill/>
        </p:spPr>
        <p:txBody>
          <a:bodyPr wrap="none">
            <a:spAutoFit/>
          </a:bodyPr>
          <a:lstStyle/>
          <a:p>
            <a:pPr>
              <a:defRPr sz="1400" b="1">
                <a:solidFill>
                  <a:srgbClr val="152D4E"/>
                </a:solidFill>
                <a:latin typeface="Aptos Display"/>
              </a:defRPr>
            </a:pPr>
            <a:r>
              <a:t>External Services</a:t>
            </a:r>
          </a:p>
        </p:txBody>
      </p:sp>
      <p:sp>
        <p:nvSpPr>
          <p:cNvPr id="29" name="TextBox 28"/>
          <p:cNvSpPr txBox="1"/>
          <p:nvPr/>
        </p:nvSpPr>
        <p:spPr>
          <a:xfrm>
            <a:off x="6510528" y="4370832"/>
            <a:ext cx="4892040" cy="274320"/>
          </a:xfrm>
          <a:prstGeom prst="rect">
            <a:avLst/>
          </a:prstGeom>
          <a:noFill/>
        </p:spPr>
        <p:txBody>
          <a:bodyPr wrap="square">
            <a:spAutoFit/>
          </a:bodyPr>
          <a:lstStyle/>
          <a:p>
            <a:pPr>
              <a:defRPr sz="1100">
                <a:solidFill>
                  <a:srgbClr val="232D37"/>
                </a:solidFill>
                <a:latin typeface="Aptos"/>
              </a:defRPr>
            </a:pPr>
            <a:r>
              <a:t>REST APIs • Google Maps API</a:t>
            </a:r>
          </a:p>
        </p:txBody>
      </p:sp>
      <p:sp>
        <p:nvSpPr>
          <p:cNvPr id="30" name="Rounded Rectangle 29"/>
          <p:cNvSpPr/>
          <p:nvPr/>
        </p:nvSpPr>
        <p:spPr>
          <a:xfrm>
            <a:off x="685800" y="502920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85800" y="5029200"/>
            <a:ext cx="73152" cy="96012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6968" y="5175504"/>
            <a:ext cx="4910328" cy="365760"/>
          </a:xfrm>
          <a:prstGeom prst="rect">
            <a:avLst/>
          </a:prstGeom>
          <a:noFill/>
        </p:spPr>
        <p:txBody>
          <a:bodyPr wrap="none">
            <a:spAutoFit/>
          </a:bodyPr>
          <a:lstStyle/>
          <a:p>
            <a:pPr>
              <a:defRPr sz="1400" b="1">
                <a:solidFill>
                  <a:srgbClr val="152D4E"/>
                </a:solidFill>
                <a:latin typeface="Aptos Display"/>
              </a:defRPr>
            </a:pPr>
            <a:r>
              <a:t>Version Control</a:t>
            </a:r>
          </a:p>
        </p:txBody>
      </p:sp>
      <p:sp>
        <p:nvSpPr>
          <p:cNvPr id="33" name="TextBox 32"/>
          <p:cNvSpPr txBox="1"/>
          <p:nvPr/>
        </p:nvSpPr>
        <p:spPr>
          <a:xfrm>
            <a:off x="886968" y="5605272"/>
            <a:ext cx="4892040" cy="274320"/>
          </a:xfrm>
          <a:prstGeom prst="rect">
            <a:avLst/>
          </a:prstGeom>
          <a:noFill/>
        </p:spPr>
        <p:txBody>
          <a:bodyPr wrap="square">
            <a:spAutoFit/>
          </a:bodyPr>
          <a:lstStyle/>
          <a:p>
            <a:pPr>
              <a:defRPr sz="1100">
                <a:solidFill>
                  <a:srgbClr val="232D37"/>
                </a:solidFill>
                <a:latin typeface="Aptos"/>
              </a:defRPr>
            </a:pPr>
            <a:r>
              <a:t>Git • GitHub</a:t>
            </a:r>
          </a:p>
        </p:txBody>
      </p:sp>
      <p:sp>
        <p:nvSpPr>
          <p:cNvPr id="34" name="Rounded Rectangle 33"/>
          <p:cNvSpPr/>
          <p:nvPr/>
        </p:nvSpPr>
        <p:spPr>
          <a:xfrm>
            <a:off x="6309360" y="502920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309360" y="5029200"/>
            <a:ext cx="73152" cy="96012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10528" y="5175504"/>
            <a:ext cx="4910328" cy="365760"/>
          </a:xfrm>
          <a:prstGeom prst="rect">
            <a:avLst/>
          </a:prstGeom>
          <a:noFill/>
        </p:spPr>
        <p:txBody>
          <a:bodyPr wrap="none">
            <a:spAutoFit/>
          </a:bodyPr>
          <a:lstStyle/>
          <a:p>
            <a:pPr>
              <a:defRPr sz="1400" b="1">
                <a:solidFill>
                  <a:srgbClr val="152D4E"/>
                </a:solidFill>
                <a:latin typeface="Aptos Display"/>
              </a:defRPr>
            </a:pPr>
            <a:r>
              <a:t>Project Management</a:t>
            </a:r>
          </a:p>
        </p:txBody>
      </p:sp>
      <p:sp>
        <p:nvSpPr>
          <p:cNvPr id="37" name="TextBox 36"/>
          <p:cNvSpPr txBox="1"/>
          <p:nvPr/>
        </p:nvSpPr>
        <p:spPr>
          <a:xfrm>
            <a:off x="6510528" y="5605272"/>
            <a:ext cx="4892040" cy="274320"/>
          </a:xfrm>
          <a:prstGeom prst="rect">
            <a:avLst/>
          </a:prstGeom>
          <a:noFill/>
        </p:spPr>
        <p:txBody>
          <a:bodyPr wrap="square">
            <a:spAutoFit/>
          </a:bodyPr>
          <a:lstStyle/>
          <a:p>
            <a:pPr>
              <a:defRPr sz="1100">
                <a:solidFill>
                  <a:srgbClr val="232D37"/>
                </a:solidFill>
                <a:latin typeface="Aptos"/>
              </a:defRPr>
            </a:pPr>
            <a:r>
              <a:t>Jira • Agile Scrum</a:t>
            </a:r>
          </a:p>
        </p:txBody>
      </p:sp>
      <p:sp>
        <p:nvSpPr>
          <p:cNvPr id="38" name="TextBox 37"/>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System Architecture</a:t>
            </a:r>
          </a:p>
        </p:txBody>
      </p:sp>
      <p:sp>
        <p:nvSpPr>
          <p:cNvPr id="6" name="Rounded Rectangle 5"/>
          <p:cNvSpPr/>
          <p:nvPr/>
        </p:nvSpPr>
        <p:spPr>
          <a:xfrm>
            <a:off x="1828800" y="1234440"/>
            <a:ext cx="8503920" cy="713232"/>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993392" y="1344168"/>
            <a:ext cx="1965960" cy="493776"/>
          </a:xfrm>
          <a:prstGeom prst="round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Users</a:t>
            </a:r>
          </a:p>
        </p:txBody>
      </p:sp>
      <p:sp>
        <p:nvSpPr>
          <p:cNvPr id="8" name="TextBox 7"/>
          <p:cNvSpPr txBox="1"/>
          <p:nvPr/>
        </p:nvSpPr>
        <p:spPr>
          <a:xfrm>
            <a:off x="4160520" y="1344168"/>
            <a:ext cx="5897880" cy="493776"/>
          </a:xfrm>
          <a:prstGeom prst="rect">
            <a:avLst/>
          </a:prstGeom>
          <a:noFill/>
        </p:spPr>
        <p:txBody>
          <a:bodyPr wrap="none">
            <a:spAutoFit/>
          </a:bodyPr>
          <a:lstStyle/>
          <a:p>
            <a:pPr>
              <a:defRPr sz="1300">
                <a:solidFill>
                  <a:srgbClr val="232D37"/>
                </a:solidFill>
              </a:defRPr>
            </a:pPr>
            <a:r>
              <a:t>Patients • Blood Donors • Volunteers • Pharmacy Users</a:t>
            </a:r>
          </a:p>
        </p:txBody>
      </p:sp>
      <p:cxnSp>
        <p:nvCxnSpPr>
          <p:cNvPr id="9" name="Connector 8"/>
          <p:cNvCxnSpPr/>
          <p:nvPr/>
        </p:nvCxnSpPr>
        <p:spPr>
          <a:xfrm>
            <a:off x="6080760" y="1947672"/>
            <a:ext cx="0" cy="274320"/>
          </a:xfrm>
          <a:prstGeom prst="line">
            <a:avLst/>
          </a:prstGeom>
          <a:ln>
            <a:solidFill>
              <a:srgbClr val="E1EAF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828800" y="2221992"/>
            <a:ext cx="8503920" cy="713232"/>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993392" y="2331720"/>
            <a:ext cx="1965960" cy="493776"/>
          </a:xfrm>
          <a:prstGeom prst="round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Web Application</a:t>
            </a:r>
          </a:p>
        </p:txBody>
      </p:sp>
      <p:sp>
        <p:nvSpPr>
          <p:cNvPr id="12" name="TextBox 11"/>
          <p:cNvSpPr txBox="1"/>
          <p:nvPr/>
        </p:nvSpPr>
        <p:spPr>
          <a:xfrm>
            <a:off x="4160520" y="2331720"/>
            <a:ext cx="5897880" cy="493776"/>
          </a:xfrm>
          <a:prstGeom prst="rect">
            <a:avLst/>
          </a:prstGeom>
          <a:noFill/>
        </p:spPr>
        <p:txBody>
          <a:bodyPr wrap="none">
            <a:spAutoFit/>
          </a:bodyPr>
          <a:lstStyle/>
          <a:p>
            <a:pPr>
              <a:defRPr sz="1300">
                <a:solidFill>
                  <a:srgbClr val="232D37"/>
                </a:solidFill>
              </a:defRPr>
            </a:pPr>
            <a:r>
              <a:t>JSP • HTML5 • CSS3 • JavaScript</a:t>
            </a:r>
          </a:p>
        </p:txBody>
      </p:sp>
      <p:cxnSp>
        <p:nvCxnSpPr>
          <p:cNvPr id="13" name="Connector 12"/>
          <p:cNvCxnSpPr/>
          <p:nvPr/>
        </p:nvCxnSpPr>
        <p:spPr>
          <a:xfrm>
            <a:off x="6080760" y="2935224"/>
            <a:ext cx="0" cy="274320"/>
          </a:xfrm>
          <a:prstGeom prst="line">
            <a:avLst/>
          </a:prstGeom>
          <a:ln>
            <a:solidFill>
              <a:srgbClr val="E1EAF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828800" y="3209544"/>
            <a:ext cx="8503920" cy="713232"/>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993392" y="3319272"/>
            <a:ext cx="1965960" cy="493776"/>
          </a:xfrm>
          <a:prstGeom prst="round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Java Application</a:t>
            </a:r>
          </a:p>
        </p:txBody>
      </p:sp>
      <p:sp>
        <p:nvSpPr>
          <p:cNvPr id="16" name="TextBox 15"/>
          <p:cNvSpPr txBox="1"/>
          <p:nvPr/>
        </p:nvSpPr>
        <p:spPr>
          <a:xfrm>
            <a:off x="4160520" y="3319272"/>
            <a:ext cx="5897880" cy="493776"/>
          </a:xfrm>
          <a:prstGeom prst="rect">
            <a:avLst/>
          </a:prstGeom>
          <a:noFill/>
        </p:spPr>
        <p:txBody>
          <a:bodyPr wrap="none">
            <a:spAutoFit/>
          </a:bodyPr>
          <a:lstStyle/>
          <a:p>
            <a:pPr>
              <a:defRPr sz="1300">
                <a:solidFill>
                  <a:srgbClr val="232D37"/>
                </a:solidFill>
              </a:defRPr>
            </a:pPr>
            <a:r>
              <a:t>Authentication • Donor Management • Requests • Medicine Finder</a:t>
            </a:r>
          </a:p>
        </p:txBody>
      </p:sp>
      <p:cxnSp>
        <p:nvCxnSpPr>
          <p:cNvPr id="17" name="Connector 16"/>
          <p:cNvCxnSpPr/>
          <p:nvPr/>
        </p:nvCxnSpPr>
        <p:spPr>
          <a:xfrm>
            <a:off x="6080760" y="3922776"/>
            <a:ext cx="0" cy="274320"/>
          </a:xfrm>
          <a:prstGeom prst="line">
            <a:avLst/>
          </a:prstGeom>
          <a:ln>
            <a:solidFill>
              <a:srgbClr val="E1EAF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828800" y="4197096"/>
            <a:ext cx="8503920" cy="713232"/>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993392" y="4306824"/>
            <a:ext cx="1965960" cy="493776"/>
          </a:xfrm>
          <a:prstGeom prst="round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Data Layer</a:t>
            </a:r>
          </a:p>
        </p:txBody>
      </p:sp>
      <p:sp>
        <p:nvSpPr>
          <p:cNvPr id="20" name="TextBox 19"/>
          <p:cNvSpPr txBox="1"/>
          <p:nvPr/>
        </p:nvSpPr>
        <p:spPr>
          <a:xfrm>
            <a:off x="4160520" y="4306824"/>
            <a:ext cx="5897880" cy="493776"/>
          </a:xfrm>
          <a:prstGeom prst="rect">
            <a:avLst/>
          </a:prstGeom>
          <a:noFill/>
        </p:spPr>
        <p:txBody>
          <a:bodyPr wrap="none">
            <a:spAutoFit/>
          </a:bodyPr>
          <a:lstStyle/>
          <a:p>
            <a:pPr>
              <a:defRPr sz="1300">
                <a:solidFill>
                  <a:srgbClr val="232D37"/>
                </a:solidFill>
              </a:defRPr>
            </a:pPr>
            <a:r>
              <a:t>MySQL Database • JDBC</a:t>
            </a:r>
          </a:p>
        </p:txBody>
      </p:sp>
      <p:cxnSp>
        <p:nvCxnSpPr>
          <p:cNvPr id="21" name="Connector 20"/>
          <p:cNvCxnSpPr/>
          <p:nvPr/>
        </p:nvCxnSpPr>
        <p:spPr>
          <a:xfrm>
            <a:off x="6080760" y="4910328"/>
            <a:ext cx="0" cy="274320"/>
          </a:xfrm>
          <a:prstGeom prst="line">
            <a:avLst/>
          </a:prstGeom>
          <a:ln>
            <a:solidFill>
              <a:srgbClr val="E1EAF4"/>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828800" y="5184648"/>
            <a:ext cx="8503920" cy="713232"/>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993392" y="5294376"/>
            <a:ext cx="1965960" cy="493776"/>
          </a:xfrm>
          <a:prstGeom prst="round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External Services</a:t>
            </a:r>
          </a:p>
        </p:txBody>
      </p:sp>
      <p:sp>
        <p:nvSpPr>
          <p:cNvPr id="24" name="TextBox 23"/>
          <p:cNvSpPr txBox="1"/>
          <p:nvPr/>
        </p:nvSpPr>
        <p:spPr>
          <a:xfrm>
            <a:off x="4160520" y="5294376"/>
            <a:ext cx="5897880" cy="493776"/>
          </a:xfrm>
          <a:prstGeom prst="rect">
            <a:avLst/>
          </a:prstGeom>
          <a:noFill/>
        </p:spPr>
        <p:txBody>
          <a:bodyPr wrap="none">
            <a:spAutoFit/>
          </a:bodyPr>
          <a:lstStyle/>
          <a:p>
            <a:pPr>
              <a:defRPr sz="1300">
                <a:solidFill>
                  <a:srgbClr val="232D37"/>
                </a:solidFill>
              </a:defRPr>
            </a:pPr>
            <a:r>
              <a:t>REST APIs • Google Maps API</a:t>
            </a:r>
          </a:p>
        </p:txBody>
      </p:sp>
      <p:sp>
        <p:nvSpPr>
          <p:cNvPr id="25" name="TextBox 24"/>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Development Methodology</a:t>
            </a:r>
          </a:p>
        </p:txBody>
      </p:sp>
      <p:sp>
        <p:nvSpPr>
          <p:cNvPr id="6" name="Rounded Rectangle 5"/>
          <p:cNvSpPr/>
          <p:nvPr/>
        </p:nvSpPr>
        <p:spPr>
          <a:xfrm>
            <a:off x="594360" y="141732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417320"/>
            <a:ext cx="73152" cy="169164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563624"/>
            <a:ext cx="3081528" cy="365760"/>
          </a:xfrm>
          <a:prstGeom prst="rect">
            <a:avLst/>
          </a:prstGeom>
          <a:noFill/>
        </p:spPr>
        <p:txBody>
          <a:bodyPr wrap="none">
            <a:spAutoFit/>
          </a:bodyPr>
          <a:lstStyle/>
          <a:p>
            <a:pPr>
              <a:defRPr sz="1500" b="1">
                <a:solidFill>
                  <a:srgbClr val="152D4E"/>
                </a:solidFill>
                <a:latin typeface="Aptos Display"/>
              </a:defRPr>
            </a:pPr>
            <a:r>
              <a:t>Sprint 1</a:t>
            </a:r>
          </a:p>
        </p:txBody>
      </p:sp>
      <p:sp>
        <p:nvSpPr>
          <p:cNvPr id="9" name="TextBox 8"/>
          <p:cNvSpPr txBox="1"/>
          <p:nvPr/>
        </p:nvSpPr>
        <p:spPr>
          <a:xfrm>
            <a:off x="795528" y="1993392"/>
            <a:ext cx="3063240" cy="1005840"/>
          </a:xfrm>
          <a:prstGeom prst="rect">
            <a:avLst/>
          </a:prstGeom>
          <a:noFill/>
        </p:spPr>
        <p:txBody>
          <a:bodyPr wrap="square">
            <a:spAutoFit/>
          </a:bodyPr>
          <a:lstStyle/>
          <a:p>
            <a:pPr>
              <a:defRPr sz="1200">
                <a:solidFill>
                  <a:srgbClr val="232D37"/>
                </a:solidFill>
                <a:latin typeface="Aptos"/>
              </a:defRPr>
            </a:pPr>
            <a:r>
              <a:t>User authentication</a:t>
            </a:r>
          </a:p>
        </p:txBody>
      </p:sp>
      <p:sp>
        <p:nvSpPr>
          <p:cNvPr id="10" name="Rounded Rectangle 9"/>
          <p:cNvSpPr/>
          <p:nvPr/>
        </p:nvSpPr>
        <p:spPr>
          <a:xfrm>
            <a:off x="4389120" y="141732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417320"/>
            <a:ext cx="73152" cy="169164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563624"/>
            <a:ext cx="3081528" cy="365760"/>
          </a:xfrm>
          <a:prstGeom prst="rect">
            <a:avLst/>
          </a:prstGeom>
          <a:noFill/>
        </p:spPr>
        <p:txBody>
          <a:bodyPr wrap="none">
            <a:spAutoFit/>
          </a:bodyPr>
          <a:lstStyle/>
          <a:p>
            <a:pPr>
              <a:defRPr sz="1500" b="1">
                <a:solidFill>
                  <a:srgbClr val="152D4E"/>
                </a:solidFill>
                <a:latin typeface="Aptos Display"/>
              </a:defRPr>
            </a:pPr>
            <a:r>
              <a:t>Sprint 2</a:t>
            </a:r>
          </a:p>
        </p:txBody>
      </p:sp>
      <p:sp>
        <p:nvSpPr>
          <p:cNvPr id="13" name="TextBox 12"/>
          <p:cNvSpPr txBox="1"/>
          <p:nvPr/>
        </p:nvSpPr>
        <p:spPr>
          <a:xfrm>
            <a:off x="4590288" y="1993392"/>
            <a:ext cx="3063240" cy="1005840"/>
          </a:xfrm>
          <a:prstGeom prst="rect">
            <a:avLst/>
          </a:prstGeom>
          <a:noFill/>
        </p:spPr>
        <p:txBody>
          <a:bodyPr wrap="square">
            <a:spAutoFit/>
          </a:bodyPr>
          <a:lstStyle/>
          <a:p>
            <a:pPr>
              <a:defRPr sz="1200">
                <a:solidFill>
                  <a:srgbClr val="232D37"/>
                </a:solidFill>
                <a:latin typeface="Aptos"/>
              </a:defRPr>
            </a:pPr>
            <a:r>
              <a:t>Blood donor management</a:t>
            </a:r>
          </a:p>
        </p:txBody>
      </p:sp>
      <p:sp>
        <p:nvSpPr>
          <p:cNvPr id="14" name="Rounded Rectangle 13"/>
          <p:cNvSpPr/>
          <p:nvPr/>
        </p:nvSpPr>
        <p:spPr>
          <a:xfrm>
            <a:off x="8183880" y="141732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83880" y="1417320"/>
            <a:ext cx="73152" cy="169164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85048" y="1563624"/>
            <a:ext cx="3081528" cy="365760"/>
          </a:xfrm>
          <a:prstGeom prst="rect">
            <a:avLst/>
          </a:prstGeom>
          <a:noFill/>
        </p:spPr>
        <p:txBody>
          <a:bodyPr wrap="none">
            <a:spAutoFit/>
          </a:bodyPr>
          <a:lstStyle/>
          <a:p>
            <a:pPr>
              <a:defRPr sz="1500" b="1">
                <a:solidFill>
                  <a:srgbClr val="152D4E"/>
                </a:solidFill>
                <a:latin typeface="Aptos Display"/>
              </a:defRPr>
            </a:pPr>
            <a:r>
              <a:t>Sprint 3</a:t>
            </a:r>
          </a:p>
        </p:txBody>
      </p:sp>
      <p:sp>
        <p:nvSpPr>
          <p:cNvPr id="17" name="TextBox 16"/>
          <p:cNvSpPr txBox="1"/>
          <p:nvPr/>
        </p:nvSpPr>
        <p:spPr>
          <a:xfrm>
            <a:off x="8385048" y="1993392"/>
            <a:ext cx="3063240" cy="1005840"/>
          </a:xfrm>
          <a:prstGeom prst="rect">
            <a:avLst/>
          </a:prstGeom>
          <a:noFill/>
        </p:spPr>
        <p:txBody>
          <a:bodyPr wrap="square">
            <a:spAutoFit/>
          </a:bodyPr>
          <a:lstStyle/>
          <a:p>
            <a:pPr>
              <a:defRPr sz="1200">
                <a:solidFill>
                  <a:srgbClr val="232D37"/>
                </a:solidFill>
                <a:latin typeface="Aptos"/>
              </a:defRPr>
            </a:pPr>
            <a:r>
              <a:t>Emergency requests</a:t>
            </a:r>
          </a:p>
        </p:txBody>
      </p:sp>
      <p:sp>
        <p:nvSpPr>
          <p:cNvPr id="18" name="Rounded Rectangle 17"/>
          <p:cNvSpPr/>
          <p:nvPr/>
        </p:nvSpPr>
        <p:spPr>
          <a:xfrm>
            <a:off x="594360" y="356616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4360" y="3566160"/>
            <a:ext cx="73152" cy="169164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3712464"/>
            <a:ext cx="3081528" cy="365760"/>
          </a:xfrm>
          <a:prstGeom prst="rect">
            <a:avLst/>
          </a:prstGeom>
          <a:noFill/>
        </p:spPr>
        <p:txBody>
          <a:bodyPr wrap="none">
            <a:spAutoFit/>
          </a:bodyPr>
          <a:lstStyle/>
          <a:p>
            <a:pPr>
              <a:defRPr sz="1500" b="1">
                <a:solidFill>
                  <a:srgbClr val="152D4E"/>
                </a:solidFill>
                <a:latin typeface="Aptos Display"/>
              </a:defRPr>
            </a:pPr>
            <a:r>
              <a:t>Sprint 4</a:t>
            </a:r>
          </a:p>
        </p:txBody>
      </p:sp>
      <p:sp>
        <p:nvSpPr>
          <p:cNvPr id="21" name="TextBox 20"/>
          <p:cNvSpPr txBox="1"/>
          <p:nvPr/>
        </p:nvSpPr>
        <p:spPr>
          <a:xfrm>
            <a:off x="795528" y="4142232"/>
            <a:ext cx="3063240" cy="1005840"/>
          </a:xfrm>
          <a:prstGeom prst="rect">
            <a:avLst/>
          </a:prstGeom>
          <a:noFill/>
        </p:spPr>
        <p:txBody>
          <a:bodyPr wrap="square">
            <a:spAutoFit/>
          </a:bodyPr>
          <a:lstStyle/>
          <a:p>
            <a:pPr>
              <a:defRPr sz="1200">
                <a:solidFill>
                  <a:srgbClr val="232D37"/>
                </a:solidFill>
                <a:latin typeface="Aptos"/>
              </a:defRPr>
            </a:pPr>
            <a:r>
              <a:t>Volunteer management</a:t>
            </a:r>
          </a:p>
        </p:txBody>
      </p:sp>
      <p:sp>
        <p:nvSpPr>
          <p:cNvPr id="22" name="Rounded Rectangle 21"/>
          <p:cNvSpPr/>
          <p:nvPr/>
        </p:nvSpPr>
        <p:spPr>
          <a:xfrm>
            <a:off x="4389120" y="356616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89120" y="3566160"/>
            <a:ext cx="73152" cy="1691640"/>
          </a:xfrm>
          <a:prstGeom prst="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90288" y="3712464"/>
            <a:ext cx="3081528" cy="365760"/>
          </a:xfrm>
          <a:prstGeom prst="rect">
            <a:avLst/>
          </a:prstGeom>
          <a:noFill/>
        </p:spPr>
        <p:txBody>
          <a:bodyPr wrap="none">
            <a:spAutoFit/>
          </a:bodyPr>
          <a:lstStyle/>
          <a:p>
            <a:pPr>
              <a:defRPr sz="1500" b="1">
                <a:solidFill>
                  <a:srgbClr val="152D4E"/>
                </a:solidFill>
                <a:latin typeface="Aptos Display"/>
              </a:defRPr>
            </a:pPr>
            <a:r>
              <a:t>Sprint 5</a:t>
            </a:r>
          </a:p>
        </p:txBody>
      </p:sp>
      <p:sp>
        <p:nvSpPr>
          <p:cNvPr id="25" name="TextBox 24"/>
          <p:cNvSpPr txBox="1"/>
          <p:nvPr/>
        </p:nvSpPr>
        <p:spPr>
          <a:xfrm>
            <a:off x="4590288" y="4142232"/>
            <a:ext cx="3063240" cy="1005840"/>
          </a:xfrm>
          <a:prstGeom prst="rect">
            <a:avLst/>
          </a:prstGeom>
          <a:noFill/>
        </p:spPr>
        <p:txBody>
          <a:bodyPr wrap="square">
            <a:spAutoFit/>
          </a:bodyPr>
          <a:lstStyle/>
          <a:p>
            <a:pPr>
              <a:defRPr sz="1200">
                <a:solidFill>
                  <a:srgbClr val="232D37"/>
                </a:solidFill>
                <a:latin typeface="Aptos"/>
              </a:defRPr>
            </a:pPr>
            <a:r>
              <a:t>Medicine &amp; pharmacy services</a:t>
            </a:r>
          </a:p>
        </p:txBody>
      </p:sp>
      <p:sp>
        <p:nvSpPr>
          <p:cNvPr id="26" name="Rounded Rectangle 25"/>
          <p:cNvSpPr/>
          <p:nvPr/>
        </p:nvSpPr>
        <p:spPr>
          <a:xfrm>
            <a:off x="8183880" y="356616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83880" y="3566160"/>
            <a:ext cx="73152" cy="169164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85048" y="3712464"/>
            <a:ext cx="3081528" cy="365760"/>
          </a:xfrm>
          <a:prstGeom prst="rect">
            <a:avLst/>
          </a:prstGeom>
          <a:noFill/>
        </p:spPr>
        <p:txBody>
          <a:bodyPr wrap="none">
            <a:spAutoFit/>
          </a:bodyPr>
          <a:lstStyle/>
          <a:p>
            <a:pPr>
              <a:defRPr sz="1500" b="1">
                <a:solidFill>
                  <a:srgbClr val="152D4E"/>
                </a:solidFill>
                <a:latin typeface="Aptos Display"/>
              </a:defRPr>
            </a:pPr>
            <a:r>
              <a:t>Sprint 6</a:t>
            </a:r>
          </a:p>
        </p:txBody>
      </p:sp>
      <p:sp>
        <p:nvSpPr>
          <p:cNvPr id="29" name="TextBox 28"/>
          <p:cNvSpPr txBox="1"/>
          <p:nvPr/>
        </p:nvSpPr>
        <p:spPr>
          <a:xfrm>
            <a:off x="8385048" y="4142232"/>
            <a:ext cx="3063240" cy="1005840"/>
          </a:xfrm>
          <a:prstGeom prst="rect">
            <a:avLst/>
          </a:prstGeom>
          <a:noFill/>
        </p:spPr>
        <p:txBody>
          <a:bodyPr wrap="square">
            <a:spAutoFit/>
          </a:bodyPr>
          <a:lstStyle/>
          <a:p>
            <a:pPr>
              <a:defRPr sz="1200">
                <a:solidFill>
                  <a:srgbClr val="232D37"/>
                </a:solidFill>
                <a:latin typeface="Aptos"/>
              </a:defRPr>
            </a:pPr>
            <a:r>
              <a:t>Dashboard, testing &amp; integration</a:t>
            </a:r>
          </a:p>
        </p:txBody>
      </p:sp>
      <p:sp>
        <p:nvSpPr>
          <p:cNvPr id="31" name="TextBox 30"/>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0999A1C-DAFB-A6C4-6B94-26B1CABD929B}"/>
              </a:ext>
            </a:extLst>
          </p:cNvPr>
          <p:cNvPicPr>
            <a:picLocks noChangeAspect="1"/>
          </p:cNvPicPr>
          <p:nvPr/>
        </p:nvPicPr>
        <p:blipFill>
          <a:blip r:embed="rId2"/>
          <a:stretch>
            <a:fillRect/>
          </a:stretch>
        </p:blipFill>
        <p:spPr>
          <a:xfrm>
            <a:off x="0" y="-13029"/>
            <a:ext cx="12191999" cy="6884057"/>
          </a:xfrm>
          <a:prstGeom prst="rect">
            <a:avLst/>
          </a:prstGeom>
        </p:spPr>
      </p:pic>
    </p:spTree>
    <p:extLst>
      <p:ext uri="{BB962C8B-B14F-4D97-AF65-F5344CB8AC3E}">
        <p14:creationId xmlns:p14="http://schemas.microsoft.com/office/powerpoint/2010/main" val="599479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29</TotalTime>
  <Words>784</Words>
  <Application>Microsoft Office PowerPoint</Application>
  <PresentationFormat>Widescreen</PresentationFormat>
  <Paragraphs>118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Sri charan reddy</cp:lastModifiedBy>
  <cp:revision>6</cp:revision>
  <dcterms:created xsi:type="dcterms:W3CDTF">2013-01-27T09:14:16Z</dcterms:created>
  <dcterms:modified xsi:type="dcterms:W3CDTF">2026-08-19T05:27:28Z</dcterms:modified>
  <cp:category/>
</cp:coreProperties>
</file>